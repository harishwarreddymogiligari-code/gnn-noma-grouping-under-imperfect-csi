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shwar Reddy Mogiligari" userId="85ed3cf7308cb34b" providerId="LiveId" clId="{A55C9325-CD91-4140-93D0-4AB5D49FAE68}"/>
    <pc:docChg chg="undo custSel modSld">
      <pc:chgData name="Harishwar Reddy Mogiligari" userId="85ed3cf7308cb34b" providerId="LiveId" clId="{A55C9325-CD91-4140-93D0-4AB5D49FAE68}" dt="2026-09-30T04:57:29.400" v="149" actId="1076"/>
      <pc:docMkLst>
        <pc:docMk/>
      </pc:docMkLst>
      <pc:sldChg chg="modSp mod">
        <pc:chgData name="Harishwar Reddy Mogiligari" userId="85ed3cf7308cb34b" providerId="LiveId" clId="{A55C9325-CD91-4140-93D0-4AB5D49FAE68}" dt="2026-09-30T04:57:29.400" v="149" actId="1076"/>
        <pc:sldMkLst>
          <pc:docMk/>
          <pc:sldMk cId="0" sldId="260"/>
        </pc:sldMkLst>
        <pc:spChg chg="mod">
          <ac:chgData name="Harishwar Reddy Mogiligari" userId="85ed3cf7308cb34b" providerId="LiveId" clId="{A55C9325-CD91-4140-93D0-4AB5D49FAE68}" dt="2026-09-30T04:57:24.805" v="148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Harishwar Reddy Mogiligari" userId="85ed3cf7308cb34b" providerId="LiveId" clId="{A55C9325-CD91-4140-93D0-4AB5D49FAE68}" dt="2026-09-30T04:57:29.400" v="149" actId="107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Harishwar Reddy Mogiligari" userId="85ed3cf7308cb34b" providerId="LiveId" clId="{A55C9325-CD91-4140-93D0-4AB5D49FAE68}" dt="2026-09-30T04:51:38.360" v="8" actId="1076"/>
        <pc:sldMkLst>
          <pc:docMk/>
          <pc:sldMk cId="0" sldId="261"/>
        </pc:sldMkLst>
        <pc:spChg chg="mod">
          <ac:chgData name="Harishwar Reddy Mogiligari" userId="85ed3cf7308cb34b" providerId="LiveId" clId="{A55C9325-CD91-4140-93D0-4AB5D49FAE68}" dt="2026-09-30T04:51:16.016" v="5" actId="688"/>
          <ac:spMkLst>
            <pc:docMk/>
            <pc:sldMk cId="0" sldId="261"/>
            <ac:spMk id="14" creationId="{00000000-0000-0000-0000-000000000000}"/>
          </ac:spMkLst>
        </pc:spChg>
        <pc:spChg chg="mod">
          <ac:chgData name="Harishwar Reddy Mogiligari" userId="85ed3cf7308cb34b" providerId="LiveId" clId="{A55C9325-CD91-4140-93D0-4AB5D49FAE68}" dt="2026-09-30T04:51:02.425" v="3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Harishwar Reddy Mogiligari" userId="85ed3cf7308cb34b" providerId="LiveId" clId="{A55C9325-CD91-4140-93D0-4AB5D49FAE68}" dt="2026-09-30T04:50:59.325" v="2" actId="688"/>
          <ac:spMkLst>
            <pc:docMk/>
            <pc:sldMk cId="0" sldId="261"/>
            <ac:spMk id="16" creationId="{00000000-0000-0000-0000-000000000000}"/>
          </ac:spMkLst>
        </pc:spChg>
        <pc:spChg chg="mod">
          <ac:chgData name="Harishwar Reddy Mogiligari" userId="85ed3cf7308cb34b" providerId="LiveId" clId="{A55C9325-CD91-4140-93D0-4AB5D49FAE68}" dt="2026-09-30T04:51:38.360" v="8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Harishwar Reddy Mogiligari" userId="85ed3cf7308cb34b" providerId="LiveId" clId="{A55C9325-CD91-4140-93D0-4AB5D49FAE68}" dt="2026-09-30T04:51:08.048" v="4" actId="688"/>
          <ac:spMkLst>
            <pc:docMk/>
            <pc:sldMk cId="0" sldId="261"/>
            <ac:spMk id="18" creationId="{00000000-0000-0000-0000-000000000000}"/>
          </ac:spMkLst>
        </pc:spChg>
      </pc:sldChg>
      <pc:sldChg chg="modSp mod">
        <pc:chgData name="Harishwar Reddy Mogiligari" userId="85ed3cf7308cb34b" providerId="LiveId" clId="{A55C9325-CD91-4140-93D0-4AB5D49FAE68}" dt="2026-09-30T04:53:15.797" v="72" actId="20577"/>
        <pc:sldMkLst>
          <pc:docMk/>
          <pc:sldMk cId="0" sldId="262"/>
        </pc:sldMkLst>
        <pc:spChg chg="mod">
          <ac:chgData name="Harishwar Reddy Mogiligari" userId="85ed3cf7308cb34b" providerId="LiveId" clId="{A55C9325-CD91-4140-93D0-4AB5D49FAE68}" dt="2026-09-30T04:53:15.797" v="72" actId="20577"/>
          <ac:spMkLst>
            <pc:docMk/>
            <pc:sldMk cId="0" sldId="262"/>
            <ac:spMk id="3" creationId="{00000000-0000-0000-0000-000000000000}"/>
          </ac:spMkLst>
        </pc:spChg>
      </pc:sldChg>
      <pc:sldChg chg="addSp delSp modSp mod">
        <pc:chgData name="Harishwar Reddy Mogiligari" userId="85ed3cf7308cb34b" providerId="LiveId" clId="{A55C9325-CD91-4140-93D0-4AB5D49FAE68}" dt="2026-09-30T04:57:04.960" v="147" actId="14100"/>
        <pc:sldMkLst>
          <pc:docMk/>
          <pc:sldMk cId="0" sldId="263"/>
        </pc:sldMkLst>
        <pc:spChg chg="mod">
          <ac:chgData name="Harishwar Reddy Mogiligari" userId="85ed3cf7308cb34b" providerId="LiveId" clId="{A55C9325-CD91-4140-93D0-4AB5D49FAE68}" dt="2026-09-30T04:54:14.966" v="86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Harishwar Reddy Mogiligari" userId="85ed3cf7308cb34b" providerId="LiveId" clId="{A55C9325-CD91-4140-93D0-4AB5D49FAE68}" dt="2026-09-30T04:54:52.247" v="126" actId="20577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Harishwar Reddy Mogiligari" userId="85ed3cf7308cb34b" providerId="LiveId" clId="{A55C9325-CD91-4140-93D0-4AB5D49FAE68}" dt="2026-09-30T04:53:47.808" v="79"/>
          <ac:spMkLst>
            <pc:docMk/>
            <pc:sldMk cId="0" sldId="263"/>
            <ac:spMk id="8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18.231" v="87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3:47.797" v="77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3:36.105" v="73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3:40.902" v="74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04.107" v="84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3:51.675" v="80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3:54.242" v="81" actId="478"/>
          <ac:spMkLst>
            <pc:docMk/>
            <pc:sldMk cId="0" sldId="263"/>
            <ac:spMk id="15" creationId="{00000000-0000-0000-0000-000000000000}"/>
          </ac:spMkLst>
        </pc:spChg>
        <pc:spChg chg="del mod">
          <ac:chgData name="Harishwar Reddy Mogiligari" userId="85ed3cf7308cb34b" providerId="LiveId" clId="{A55C9325-CD91-4140-93D0-4AB5D49FAE68}" dt="2026-09-30T04:54:24.926" v="92"/>
          <ac:spMkLst>
            <pc:docMk/>
            <pc:sldMk cId="0" sldId="263"/>
            <ac:spMk id="19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28.544" v="93" actId="478"/>
          <ac:spMkLst>
            <pc:docMk/>
            <pc:sldMk cId="0" sldId="263"/>
            <ac:spMk id="20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24.926" v="90" actId="478"/>
          <ac:spMkLst>
            <pc:docMk/>
            <pc:sldMk cId="0" sldId="263"/>
            <ac:spMk id="21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31.098" v="94" actId="478"/>
          <ac:spMkLst>
            <pc:docMk/>
            <pc:sldMk cId="0" sldId="263"/>
            <ac:spMk id="22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32.918" v="95" actId="478"/>
          <ac:spMkLst>
            <pc:docMk/>
            <pc:sldMk cId="0" sldId="263"/>
            <ac:spMk id="23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34.852" v="96" actId="478"/>
          <ac:spMkLst>
            <pc:docMk/>
            <pc:sldMk cId="0" sldId="263"/>
            <ac:spMk id="24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36.444" v="97" actId="478"/>
          <ac:spMkLst>
            <pc:docMk/>
            <pc:sldMk cId="0" sldId="263"/>
            <ac:spMk id="25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38.427" v="98" actId="478"/>
          <ac:spMkLst>
            <pc:docMk/>
            <pc:sldMk cId="0" sldId="263"/>
            <ac:spMk id="26" creationId="{00000000-0000-0000-0000-000000000000}"/>
          </ac:spMkLst>
        </pc:spChg>
        <pc:spChg chg="del mod">
          <ac:chgData name="Harishwar Reddy Mogiligari" userId="85ed3cf7308cb34b" providerId="LiveId" clId="{A55C9325-CD91-4140-93D0-4AB5D49FAE68}" dt="2026-09-30T04:54:58.600" v="129"/>
          <ac:spMkLst>
            <pc:docMk/>
            <pc:sldMk cId="0" sldId="263"/>
            <ac:spMk id="30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5:18.306" v="135" actId="478"/>
          <ac:spMkLst>
            <pc:docMk/>
            <pc:sldMk cId="0" sldId="263"/>
            <ac:spMk id="31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5:12.994" v="134" actId="478"/>
          <ac:spMkLst>
            <pc:docMk/>
            <pc:sldMk cId="0" sldId="263"/>
            <ac:spMk id="32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4:58.600" v="127" actId="478"/>
          <ac:spMkLst>
            <pc:docMk/>
            <pc:sldMk cId="0" sldId="263"/>
            <ac:spMk id="33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5:00.769" v="130" actId="478"/>
          <ac:spMkLst>
            <pc:docMk/>
            <pc:sldMk cId="0" sldId="263"/>
            <ac:spMk id="34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5:02.509" v="131" actId="478"/>
          <ac:spMkLst>
            <pc:docMk/>
            <pc:sldMk cId="0" sldId="263"/>
            <ac:spMk id="35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5:04.118" v="132" actId="478"/>
          <ac:spMkLst>
            <pc:docMk/>
            <pc:sldMk cId="0" sldId="263"/>
            <ac:spMk id="36" creationId="{00000000-0000-0000-0000-000000000000}"/>
          </ac:spMkLst>
        </pc:spChg>
        <pc:spChg chg="del">
          <ac:chgData name="Harishwar Reddy Mogiligari" userId="85ed3cf7308cb34b" providerId="LiveId" clId="{A55C9325-CD91-4140-93D0-4AB5D49FAE68}" dt="2026-09-30T04:55:05.688" v="133" actId="478"/>
          <ac:spMkLst>
            <pc:docMk/>
            <pc:sldMk cId="0" sldId="263"/>
            <ac:spMk id="37" creationId="{00000000-0000-0000-0000-000000000000}"/>
          </ac:spMkLst>
        </pc:spChg>
        <pc:picChg chg="add mod">
          <ac:chgData name="Harishwar Reddy Mogiligari" userId="85ed3cf7308cb34b" providerId="LiveId" clId="{A55C9325-CD91-4140-93D0-4AB5D49FAE68}" dt="2026-09-30T04:55:49.902" v="138" actId="1076"/>
          <ac:picMkLst>
            <pc:docMk/>
            <pc:sldMk cId="0" sldId="263"/>
            <ac:picMk id="42" creationId="{6DEF8608-120B-C2FE-FFE5-85FAC54A3D36}"/>
          </ac:picMkLst>
        </pc:picChg>
        <pc:picChg chg="add mod">
          <ac:chgData name="Harishwar Reddy Mogiligari" userId="85ed3cf7308cb34b" providerId="LiveId" clId="{A55C9325-CD91-4140-93D0-4AB5D49FAE68}" dt="2026-09-30T04:56:16.985" v="141" actId="1076"/>
          <ac:picMkLst>
            <pc:docMk/>
            <pc:sldMk cId="0" sldId="263"/>
            <ac:picMk id="44" creationId="{88167933-F5CD-566C-96DE-A7907B6C9891}"/>
          </ac:picMkLst>
        </pc:picChg>
        <pc:picChg chg="add mod">
          <ac:chgData name="Harishwar Reddy Mogiligari" userId="85ed3cf7308cb34b" providerId="LiveId" clId="{A55C9325-CD91-4140-93D0-4AB5D49FAE68}" dt="2026-09-30T04:57:04.960" v="147" actId="14100"/>
          <ac:picMkLst>
            <pc:docMk/>
            <pc:sldMk cId="0" sldId="263"/>
            <ac:picMk id="46" creationId="{E369E957-5F30-054D-D4E7-566BF69212A4}"/>
          </ac:picMkLst>
        </pc:picChg>
      </pc:sldChg>
      <pc:sldChg chg="modSp mod">
        <pc:chgData name="Harishwar Reddy Mogiligari" userId="85ed3cf7308cb34b" providerId="LiveId" clId="{A55C9325-CD91-4140-93D0-4AB5D49FAE68}" dt="2026-09-30T04:52:57.913" v="57" actId="20577"/>
        <pc:sldMkLst>
          <pc:docMk/>
          <pc:sldMk cId="0" sldId="264"/>
        </pc:sldMkLst>
        <pc:spChg chg="mod">
          <ac:chgData name="Harishwar Reddy Mogiligari" userId="85ed3cf7308cb34b" providerId="LiveId" clId="{A55C9325-CD91-4140-93D0-4AB5D49FAE68}" dt="2026-09-30T04:52:57.913" v="57" actId="20577"/>
          <ac:spMkLst>
            <pc:docMk/>
            <pc:sldMk cId="0" sldId="264"/>
            <ac:spMk id="1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Uncertainty-Aware Graph Neural Network</a:t>
            </a:r>
          </a:p>
          <a:p>
            <a:pPr>
              <a:defRPr sz="2300">
                <a:solidFill>
                  <a:srgbClr val="AAE1EB"/>
                </a:solidFill>
              </a:defRPr>
            </a:pPr>
            <a:r>
              <a:t>for Dynamic NOMA User Grouping under Imperfect CSI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Semi-Supervised 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DD7E1"/>
                </a:solidFill>
              </a:defRPr>
            </a:pPr>
            <a:r>
              <a:t>Rahul Bodduna - 2520040002</a:t>
            </a:r>
          </a:p>
          <a:p>
            <a:pPr algn="ctr">
              <a:defRPr sz="1400">
                <a:solidFill>
                  <a:srgbClr val="CDD7E1"/>
                </a:solidFill>
              </a:defRPr>
            </a:pPr>
            <a:r>
              <a:t>Harishwar Reddy Mogiligari - 2520040015</a:t>
            </a:r>
          </a:p>
          <a:p>
            <a:pPr algn="ctr">
              <a:defRPr sz="1400">
                <a:solidFill>
                  <a:srgbClr val="CDD7E1"/>
                </a:solidFill>
              </a:defRPr>
            </a:pPr>
            <a:r>
              <a:t>Akshay Boppudi - 2520040029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74920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33C"/>
                </a:solidFill>
              </a:defRPr>
            </a:pPr>
            <a:r>
              <a:t>Imperfect CSI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44952" y="5285232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11879" y="5074920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3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33C"/>
                </a:solidFill>
              </a:defRPr>
            </a:pPr>
            <a:r>
              <a:t>User Graph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33872" y="5285232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5074920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2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33C"/>
                </a:solidFill>
              </a:defRPr>
            </a:pPr>
            <a:r>
              <a:t>Semi-Supervised GNN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22792" y="5285232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89719" y="5074920"/>
            <a:ext cx="2148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33C"/>
                </a:solidFill>
              </a:defRPr>
            </a:pPr>
            <a:r>
              <a:t>NOMA + SIC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1. Background &amp;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</a:defRPr>
            </a:pPr>
            <a:r>
              <a:t>Why CSI, NOMA, SIC and GNNs are connected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182880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CSI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2395728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Channel State Information describes the wireless channel between the base station and each user.</a:t>
            </a:r>
            <a:r>
              <a:rPr lang="en-IN" dirty="0"/>
              <a:t> </a:t>
            </a:r>
            <a:r>
              <a:rPr dirty="0"/>
              <a:t>True CSI is difficult to know perfectly.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23444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234440"/>
            <a:ext cx="64008" cy="18288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Imperfect CSI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764792"/>
            <a:ext cx="2395728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Estimated CSI contains errors due to noise, feedback delay, estimation error and channel variation.</a:t>
            </a:r>
            <a:r>
              <a:rPr lang="en-IN" dirty="0"/>
              <a:t> </a:t>
            </a:r>
            <a:r>
              <a:rPr dirty="0"/>
              <a:t>This creates uncertainty.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23444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46520" y="1234440"/>
            <a:ext cx="64008" cy="1828800"/>
          </a:xfrm>
          <a:prstGeom prst="rect">
            <a:avLst/>
          </a:prstGeom>
          <a:solidFill>
            <a:srgbClr val="32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134416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NOMA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764792"/>
            <a:ext cx="23957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Multiple users share the same time-frequency resource using superposition coding and power allocation.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234440"/>
            <a:ext cx="2194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72600" y="1234440"/>
            <a:ext cx="64008" cy="1828800"/>
          </a:xfrm>
          <a:prstGeom prst="rect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1344168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SIC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1764792"/>
            <a:ext cx="184708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Successive Interference Cancellation decodes users sequentially and subtracts decoded signals.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86200"/>
            <a:ext cx="1920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Users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90672" y="411480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474720" y="3886200"/>
            <a:ext cx="21031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Estimated CSI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50992" y="411480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035040" y="388620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3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User Graph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936992" y="411480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21040" y="388620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2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GNN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222992" y="411480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561320" y="3886200"/>
            <a:ext cx="1005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33C"/>
                </a:solidFill>
              </a:defRPr>
            </a:pPr>
            <a:r>
              <a:t>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9834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038"/>
                </a:solidFill>
              </a:defRPr>
            </a:pPr>
            <a:r>
              <a:t>• The project combines wireless communication modeling with graph-based machine learning.</a:t>
            </a:r>
          </a:p>
          <a:p>
            <a:pPr>
              <a:spcAft>
                <a:spcPts val="800"/>
              </a:spcAft>
              <a:defRPr sz="1400">
                <a:solidFill>
                  <a:srgbClr val="2A3038"/>
                </a:solidFill>
              </a:defRPr>
            </a:pPr>
            <a:r>
              <a:t>• Goal: learn grouping decisions while explicitly considering CSI reliability.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202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2. Problem Statement</a:t>
            </a:r>
            <a:r>
              <a:rPr lang="en-IN" dirty="0"/>
              <a:t> &amp; Objective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</a:defRPr>
            </a:pPr>
            <a:r>
              <a:t>Target problem and technical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196596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44168"/>
            <a:ext cx="14782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rPr dirty="0"/>
              <a:t>Target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50474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A base station serving many mobile users must decide which users should share NOMA resources as channel conditions change over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3429000"/>
            <a:ext cx="64008" cy="196596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538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Technical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2"/>
            <a:ext cx="50474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Grouping based on inaccurate CSI can produce unsuitable pairings, higher interference and incorrect SIC decoding assumptions.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64008" cy="1965960"/>
          </a:xfrm>
          <a:prstGeom prst="rect">
            <a:avLst/>
          </a:prstGeom>
          <a:solidFill>
            <a:srgbClr val="32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3441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Learning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64792"/>
            <a:ext cx="50017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Obtaining optimal/reference group labels for every channel realization is computationally expensive. Much of the generated wireless data can remain unlabeled.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3492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64008" cy="1965960"/>
          </a:xfrm>
          <a:prstGeom prst="rect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Research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59352"/>
            <a:ext cx="50017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Develop a semi-supervised, uncertainty-aware GNN that learns dynamic NOMA grouping using a small labeled set and a larger unlabeled set.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3.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</a:defRPr>
            </a:pPr>
            <a:r>
              <a:t>Semi-supervised uncertainty-aware graph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Wireless</a:t>
            </a:r>
            <a:br/>
            <a:r>
              <a:t>Users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173736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97480" y="1417320"/>
            <a:ext cx="1828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Estimated CSI</a:t>
            </a:r>
            <a:br/>
            <a:r>
              <a:t>+ uncertainty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17720" y="173736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0" y="141732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3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User</a:t>
            </a:r>
            <a:br/>
            <a:r>
              <a:t>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66560" y="173736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78040" y="141732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2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GNN</a:t>
            </a:r>
            <a:br/>
            <a:r>
              <a:t>Embeddings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89720" y="173736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0" y="141732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Dynamic</a:t>
            </a:r>
            <a:br/>
            <a:r>
              <a:t>NOMA Groups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1752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017520"/>
            <a:ext cx="64008" cy="1965960"/>
          </a:xfrm>
          <a:prstGeom prst="rect">
            <a:avLst/>
          </a:prstGeom>
          <a:solidFill>
            <a:srgbClr val="32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12724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Labeled branch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47872"/>
            <a:ext cx="29443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Reference labels are available for only a subset of training graphs.</a:t>
            </a:r>
            <a:br/>
            <a:br/>
            <a:r>
              <a:t>L_sup = Cross-Entropy(reference, prediction)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01752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34840" y="3017520"/>
            <a:ext cx="64008" cy="1965960"/>
          </a:xfrm>
          <a:prstGeom prst="rect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312724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Unlabeled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47872"/>
            <a:ext cx="29443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Two perturbed views of an unlabeled graph should give consistent predictions.</a:t>
            </a:r>
            <a:br/>
            <a:br/>
            <a:r>
              <a:t>L_cons = D(P1, P2)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017520"/>
            <a:ext cx="32918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64008" cy="196596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3127248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Combined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47872"/>
            <a:ext cx="294436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Train using:</a:t>
            </a:r>
            <a:br/>
            <a:br/>
            <a:r>
              <a:t>L = L_sup + λL_cons</a:t>
            </a:r>
            <a:br/>
            <a:br/>
            <a:r>
              <a:t>High-confidence predictions may become pseudo-labels.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A3038"/>
                </a:solidFill>
              </a:defRPr>
            </a:pPr>
            <a:r>
              <a:t>• Node features: estimated channel gain + CSI uncertainty.</a:t>
            </a:r>
          </a:p>
          <a:p>
            <a:pPr>
              <a:spcAft>
                <a:spcPts val="800"/>
              </a:spcAft>
              <a:defRPr sz="1300">
                <a:solidFill>
                  <a:srgbClr val="2A3038"/>
                </a:solidFill>
              </a:defRPr>
            </a:pPr>
            <a:r>
              <a:t>• Edges: channel similarity / interference relationship.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8007" y="190161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4. Semi-Supervised Learning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1915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</a:defRPr>
            </a:pPr>
            <a:r>
              <a:rPr dirty="0"/>
              <a:t>How labeled and unlabeled channel graphs are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Generated graphs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50592" y="1536192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34640" y="1005840"/>
            <a:ext cx="1554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2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Labeled</a:t>
            </a:r>
            <a:br/>
            <a:r>
              <a:t>subset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920240"/>
            <a:ext cx="1554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3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Unlabeled</a:t>
            </a:r>
            <a:br/>
            <a:r>
              <a:t>subset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498848" y="1325880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4498848" y="2212848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892040" y="100584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2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GNN + CE</a:t>
            </a:r>
            <a:br/>
            <a:r>
              <a:t>L_sup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92024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3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GNN + perturbation</a:t>
            </a:r>
            <a:br/>
            <a:r>
              <a:t>L_cons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30568" y="1325880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6830568" y="2212848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23760" y="146304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Total loss</a:t>
            </a:r>
            <a:br/>
            <a:r>
              <a:t>L_sup + λL_cons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53728" y="1691640"/>
            <a:ext cx="36576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92640" y="1463040"/>
            <a:ext cx="19202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Update GNN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57600"/>
            <a:ext cx="4754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657600"/>
            <a:ext cx="64008" cy="16002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767328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Confidence-aware pseudo-labeling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87952"/>
            <a:ext cx="44074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If prediction confidence is high and CSI uncertainty is low, accept the prediction as a pseudo-label. Low-confidence/high-uncertainty samples are ignored.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657600"/>
            <a:ext cx="4754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3657600"/>
            <a:ext cx="64008" cy="1600200"/>
          </a:xfrm>
          <a:prstGeom prst="rect">
            <a:avLst/>
          </a:prstGeom>
          <a:solidFill>
            <a:srgbClr val="32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3767328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Why this helps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187952"/>
            <a:ext cx="440740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A small labeled set provides reliable supervision while the large unlabeled set contributes through consistency and selected pseudo-labels.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5. Project Workflow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</a:defRPr>
            </a:pPr>
            <a:r>
              <a:t>End-to-end simulation and ML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Generate users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98648" y="1719072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83280" y="137160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Generate true CSI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79008" y="1719072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Add CSI error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59367" y="1719072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0" y="137160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3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Build user graph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0104120" y="2423160"/>
            <a:ext cx="347472" cy="530352"/>
          </a:xfrm>
          <a:prstGeom prst="down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0" y="3310128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2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rPr dirty="0"/>
              <a:t>Train semi-supervised GNN</a:t>
            </a:r>
          </a:p>
        </p:txBody>
      </p:sp>
      <p:sp>
        <p:nvSpPr>
          <p:cNvPr id="14" name="Right Arrow 13"/>
          <p:cNvSpPr/>
          <p:nvPr/>
        </p:nvSpPr>
        <p:spPr>
          <a:xfrm rot="10800000">
            <a:off x="2898648" y="3639312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63640" y="3330708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2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Predict dynamic groups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5779008" y="3639312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83280" y="329184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rPr dirty="0"/>
              <a:t>Power allocation + SIC</a:t>
            </a:r>
          </a:p>
        </p:txBody>
      </p:sp>
      <p:sp>
        <p:nvSpPr>
          <p:cNvPr id="18" name="Right Arrow 17"/>
          <p:cNvSpPr/>
          <p:nvPr/>
        </p:nvSpPr>
        <p:spPr>
          <a:xfrm rot="10800000">
            <a:off x="8659367" y="3639312"/>
            <a:ext cx="320040" cy="228600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2336" y="329184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SINR / rate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349240"/>
            <a:ext cx="996696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" y="5349240"/>
            <a:ext cx="64008" cy="768096"/>
          </a:xfrm>
          <a:prstGeom prst="rect">
            <a:avLst/>
          </a:prstGeom>
          <a:solidFill>
            <a:srgbClr val="32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458968"/>
            <a:ext cx="9646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Final outputs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879592"/>
            <a:ext cx="9619488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Dynamic groups • SIC order • SINR • individual rate • sum rate • fairness • outage • grouping 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36066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rPr dirty="0"/>
              <a:t>6.</a:t>
            </a:r>
            <a:r>
              <a:rPr lang="en-US" dirty="0"/>
              <a:t> </a:t>
            </a:r>
            <a:r>
              <a:rPr dirty="0"/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</a:defRPr>
            </a:pPr>
            <a:r>
              <a:t>Planned simulation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182880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441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Wireless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30815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• 20 users</a:t>
            </a:r>
            <a:br/>
            <a:r>
              <a:t>• 4 NOMA groups</a:t>
            </a:r>
            <a:br/>
            <a:r>
              <a:t>• Rayleigh fading</a:t>
            </a:r>
            <a:br/>
            <a:r>
              <a:t>• AWGN noise</a:t>
            </a:r>
            <a:br/>
            <a:r>
              <a:t>• Variable SNR</a:t>
            </a:r>
            <a:br/>
            <a:r>
              <a:t>• Variable CSI-error variance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64008" cy="1828800"/>
          </a:xfrm>
          <a:prstGeom prst="rect">
            <a:avLst/>
          </a:prstGeom>
          <a:solidFill>
            <a:srgbClr val="32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3441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Learning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30815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• PyTorch + PyTorch Geometric</a:t>
            </a:r>
            <a:br>
              <a:rPr dirty="0"/>
            </a:br>
            <a:r>
              <a:rPr dirty="0"/>
              <a:t>• Small labeled subset</a:t>
            </a:r>
            <a:br>
              <a:rPr dirty="0"/>
            </a:br>
            <a:r>
              <a:rPr dirty="0"/>
              <a:t>• Large unlabeled subset</a:t>
            </a:r>
            <a:br>
              <a:rPr dirty="0"/>
            </a:br>
            <a:r>
              <a:rPr dirty="0"/>
              <a:t>• GNN node classification</a:t>
            </a:r>
            <a:br>
              <a:rPr dirty="0"/>
            </a:br>
            <a:r>
              <a:rPr dirty="0"/>
              <a:t>• Consistency loss</a:t>
            </a:r>
            <a:br>
              <a:rPr dirty="0"/>
            </a:br>
            <a:r>
              <a:rPr dirty="0"/>
              <a:t>• Confidence-based pseudo-labels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64008" cy="182880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59" y="13441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Baselines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1764792"/>
            <a:ext cx="30815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• Random grouping</a:t>
            </a:r>
            <a:br/>
            <a:r>
              <a:t>• Channel-based grouping</a:t>
            </a:r>
            <a:br/>
            <a:r>
              <a:t>• K-Means</a:t>
            </a:r>
            <a:br/>
            <a:r>
              <a:t>• Supervised GNN</a:t>
            </a:r>
            <a:br/>
            <a:r>
              <a:t>• Semi-supervised GNN</a:t>
            </a:r>
            <a:br/>
            <a:r>
              <a:t>• Proposed uncertainty-aware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106984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474720"/>
            <a:ext cx="64008" cy="1965960"/>
          </a:xfrm>
          <a:prstGeom prst="rect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584448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Main experiments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10351007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1. Sum rate vs SNR</a:t>
            </a:r>
            <a:br/>
            <a:r>
              <a:t>2. Sum rate vs CSI uncertainty</a:t>
            </a:r>
            <a:br/>
            <a:r>
              <a:t>3. Outage probability vs SNR</a:t>
            </a:r>
            <a:br/>
            <a:r>
              <a:t>4. Jain fairness vs CSI uncertainty</a:t>
            </a:r>
            <a:br/>
            <a:r>
              <a:t>5. Grouping accuracy vs labeled-data percentage</a:t>
            </a:r>
            <a:br/>
            <a:r>
              <a:t>6. Compare supervised vs semi-supervised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6235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2A3038"/>
                </a:solidFill>
              </a:defRPr>
            </a:pPr>
            <a:r>
              <a:t>• Test data must remain unseen during training and pseudo-label generation.</a:t>
            </a:r>
          </a:p>
          <a:p>
            <a:pPr>
              <a:spcAft>
                <a:spcPts val="800"/>
              </a:spcAft>
              <a:defRPr sz="1250">
                <a:solidFill>
                  <a:srgbClr val="2A3038"/>
                </a:solidFill>
              </a:defRPr>
            </a:pPr>
            <a:r>
              <a:t>• Use multiple random channel realizations and report averaged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7. Simulation /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</a:defRPr>
            </a:pPr>
            <a:r>
              <a:t>Result presentation plan — numerical results will be filled after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64008" cy="306324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44168"/>
            <a:ext cx="10559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rPr lang="en-US" dirty="0"/>
              <a:t>Prediction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4160520" y="123444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0520" y="1234440"/>
            <a:ext cx="64008" cy="3063240"/>
          </a:xfrm>
          <a:prstGeom prst="rect">
            <a:avLst/>
          </a:prstGeom>
          <a:solidFill>
            <a:srgbClr val="32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1344168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Accuracy vs Labeled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26679" y="1234440"/>
            <a:ext cx="32461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26679" y="1234440"/>
            <a:ext cx="64008" cy="306324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9559" y="1344168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Rate vs CSI Uncertainty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038"/>
                </a:solidFill>
              </a:defRPr>
            </a:pPr>
            <a:r>
              <a:t>• Do not fabricate numerical performance values before the simulator is run.</a:t>
            </a:r>
          </a:p>
          <a:p>
            <a:pPr>
              <a:spcAft>
                <a:spcPts val="800"/>
              </a:spcAft>
              <a:defRPr sz="1400">
                <a:solidFill>
                  <a:srgbClr val="2A3038"/>
                </a:solidFill>
              </a:defRPr>
            </a:pPr>
            <a:r>
              <a:t>• Expected analysis: robustness to CSI error and label-efficiency of semi-supervised learning.</a:t>
            </a:r>
          </a:p>
          <a:p>
            <a:pPr>
              <a:spcAft>
                <a:spcPts val="800"/>
              </a:spcAft>
              <a:defRPr sz="1400">
                <a:solidFill>
                  <a:srgbClr val="2A3038"/>
                </a:solidFill>
              </a:defRPr>
            </a:pPr>
            <a:r>
              <a:t>• Final comparison should use the same test scenarios for every baseline.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DEF8608-120B-C2FE-FFE5-85FAC54A3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59" y="1898903"/>
            <a:ext cx="2850024" cy="20238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8167933-F5CD-566C-96DE-A7907B6C9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85" y="1810548"/>
            <a:ext cx="3067478" cy="220058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369E957-5F30-054D-D4E7-566BF6921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807104"/>
            <a:ext cx="2760133" cy="23836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8. Current Progress &amp; Remaining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37D"/>
                </a:solidFill>
              </a:defRPr>
            </a:pPr>
            <a:r>
              <a:t>Development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4526280"/>
          </a:xfrm>
          <a:prstGeom prst="rect">
            <a:avLst/>
          </a:prstGeom>
          <a:solidFill>
            <a:srgbClr val="32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Current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64792"/>
            <a:ext cx="4956048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✓ Project title and research objective finalized</a:t>
            </a:r>
            <a:br>
              <a:rPr dirty="0"/>
            </a:br>
            <a:endParaRPr lang="en-IN" dirty="0"/>
          </a:p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✓ CSI / imperfect CSI concepts understood</a:t>
            </a:r>
            <a:br>
              <a:rPr dirty="0"/>
            </a:br>
            <a:endParaRPr lang="en-IN" dirty="0"/>
          </a:p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✓ NOMA and SIC mechanism defined</a:t>
            </a:r>
            <a:br>
              <a:rPr dirty="0"/>
            </a:br>
            <a:endParaRPr lang="en-IN" dirty="0"/>
          </a:p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✓ Semi-supervised approach selected</a:t>
            </a:r>
            <a:br>
              <a:rPr dirty="0"/>
            </a:br>
            <a:endParaRPr lang="en-IN" dirty="0"/>
          </a:p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✓ Graph representation defined</a:t>
            </a:r>
            <a:br>
              <a:rPr dirty="0"/>
            </a:br>
            <a:endParaRPr lang="en-IN" dirty="0"/>
          </a:p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✓ Uncertainty-aware node features defined</a:t>
            </a:r>
            <a:br>
              <a:rPr dirty="0"/>
            </a:br>
            <a:endParaRPr lang="en-IN" dirty="0"/>
          </a:p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✓ Supervised + consistency loss framework planned</a:t>
            </a:r>
            <a:br>
              <a:rPr dirty="0"/>
            </a:br>
            <a:endParaRPr lang="en-IN" dirty="0"/>
          </a:p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✓ Baselines and evaluation metrics identified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64008" cy="452628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44168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Remaining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64792"/>
            <a:ext cx="495604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rPr dirty="0"/>
              <a:t>□ </a:t>
            </a:r>
            <a:r>
              <a:rPr lang="en-US" dirty="0"/>
              <a:t>implementing on real-world</a:t>
            </a:r>
            <a:r>
              <a:rPr dirty="0"/>
              <a:t> dataset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Expected Contribution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" cy="2148840"/>
          </a:xfrm>
          <a:prstGeom prst="rect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52704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1. Semi-supervised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47672"/>
            <a:ext cx="30358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Use a small labeled set plus a larger unlabeled wireless dataset to reduce dependence on expensive grouping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2148840"/>
          </a:xfrm>
          <a:prstGeom prst="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2704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2. Uncertainty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47672"/>
            <a:ext cx="30358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Represent CSI reliability explicitly so channel estimation errors are considered during grouping.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64008" cy="2148840"/>
          </a:xfrm>
          <a:prstGeom prst="rect">
            <a:avLst/>
          </a:prstGeom>
          <a:solidFill>
            <a:srgbClr val="32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</a:defRPr>
            </a:pPr>
            <a:r>
              <a:t>3. Dynamic grouping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47672"/>
            <a:ext cx="303580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A3038"/>
                </a:solidFill>
              </a:defRPr>
            </a:pPr>
            <a:r>
              <a:t>Adapt NOMA user groups to changing channel conditions, then evaluate SIC, SINR and 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6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Imperfect CSI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63240" y="448056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74720" y="425196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3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Graph + GNN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23560" y="448056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035040" y="425196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32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NOMA Groups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183879" y="4480560"/>
            <a:ext cx="384048" cy="256032"/>
          </a:xfrm>
          <a:prstGeom prst="rightArrow">
            <a:avLst/>
          </a:prstGeom>
          <a:solidFill>
            <a:srgbClr val="23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95360" y="4251960"/>
            <a:ext cx="20116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SIC →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B4E6F0"/>
                </a:solidFill>
              </a:defRPr>
            </a:pPr>
            <a:r>
              <a:t>Final objective: quantify grouping performance and robustness under imperfect CSI while reducing the amount of labeled training data.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CD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941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Harishwar Reddy Mogiligari</cp:lastModifiedBy>
  <cp:revision>3</cp:revision>
  <dcterms:created xsi:type="dcterms:W3CDTF">2013-01-27T09:14:16Z</dcterms:created>
  <dcterms:modified xsi:type="dcterms:W3CDTF">2026-09-30T04:57:30Z</dcterms:modified>
  <cp:category/>
</cp:coreProperties>
</file>