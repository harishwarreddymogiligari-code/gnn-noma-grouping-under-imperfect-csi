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9646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Introduce the project as a machine-learning system that assigns users to NOMA groups from channel-related features and graph relationships. Emphasize that CSI uncertainty is explicitly represented and that transmission-layer optimization is outside the present scope.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Summarize the system and results without overstating them. The metrics describe grouping classification, not measured NOMA sum-rate or SINR. Point out that the confusion matrix shows most errors occur between the two intermediate groups.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Explain that NOMA superposes multiple user signals on a shared resource and relies on receiver processing to separate them. User grouping is an upstream decision. Better classification accuracy may help downstream design, but spectral-efficiency improvement must be demonstrated later with a physical-layer evaluation.</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Define imperfect CSI and derive the uncertainty measure. Clarify the important operational caveat: in a simulated dataset the true channel can be known, but in a live network it is not directly observable. A deployed implementation would need an estimator uncertainty output or a proxy.</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Stress that there is no K-Means post-processing step. The GNN classifier directly predicts group labels. Power allocation, SIC and rate calculations are future integration stages and should not be described as already validated.</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Walk left to right. Explain that scenario-level splitting occurs before scaler fitting, and that validation selects settings while the test split is held out for final reporting. Graphs are built within scenarios rather than connecting unrelated scenarios.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Explain the eight-feature vector and the squared complex error. Mention that uncertainty thresholds must use the same scale as the uncertainty values; a raw threshold cannot be applied blindly to standardized values. This is an important implementation check.</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Describe the graph as an inductive bias for message passing. kNN limits each node to local neighbors; Gaussian similarity adds graded edge weights; fully connected topology exposes global context but can blur distinctions. Keep graph construction consistent across model comparisons.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Explain message passing in intuitive terms: each user combines its own representation with aggregated information from its neighbors. Three layers expand the contextual receptive field. Softmax is the final classification layer, not a clustering pre-stage.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Explain that each term addresses a different source of learning signal. Supervised cross-entropy uses trusted labels; consistency uses unlabeled examples; pseudo-labeling adds targets only after confidence and uncertainty filters. Avoid implying that pseudo-labeling always improves results.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Walk through the two views and explain that perturbations should preserve the underlying group semantics. Symmetric KL penalizes distribution disagreement. The pseudo-label gate is deliberately conservative: high model confidence alone is insufficient if the channel estimate is considered unreliable.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Define macro metrics as an equal-weight average over classes, which prevents the largest class from dominating the summary. Since each group has equal support in the supplied confusion matrix, class imbalance is not the main explanation for per-class differences. Physical-layer benefits remain unmeasured.</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The supplied rows sum to 500 each. Group 1 is well separated in this feature space, while Groups 2 and 3 are more ambiguous. Group 3 is often predicted as Group 4, and Group 2 is often predicted as Group 3. Discuss these as empirical confusion patterns, not as proof of a single physical cause.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Present the numbers as supplied. The proposed model has the highest reported accuracy and precision, while its F1 is reported as 75.31%. Because the baseline F1 and precision figures differ in their rounding/definitions, verify the metric implementation and ensure identical test splits and label alignment before drawing strong causal conclusions.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Explain that performance rises through 20% labels but decreases at 50% in the supplied results. More labels do not guarantee a better result if optimization varies, splits differ, or pseudo-label dynamics change. The prompt mentions CSI sensitivity plots but gives no numerical bins, so describe the analysis and do not fabricate values.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Point out how the graph links the prediction to the relational structure. Large nodes indicate higher uncertainty under the chosen visualization scale, not necessarily higher error in every case. Use the scorecard as a compact summary and cross-check it against exported metrics.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Explain that PCA is a linear projection and t-SNE is a nonlinear visualization that can distort global distances. Embedding separation is qualitative support, not a replacement for held-out metrics. The CSV and GraphML files make predictions and graph structure inspectable.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Close by distinguishing completed classification evaluation from future communications evaluation. Prioritize reproducibility, repeated seeds, and uncertainty calibration before making deployment claims. The downstream stage should test whether predicted groups lead to feasible SIC and measurable rate or reliability benefits.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D34"/>
        </a:solidFill>
        <a:effectLst/>
      </p:bgPr>
    </p:bg>
    <p:spTree>
      <p:nvGrpSpPr>
        <p:cNvPr id="1" name=""/>
        <p:cNvGrpSpPr/>
        <p:nvPr/>
      </p:nvGrpSpPr>
      <p:grpSpPr>
        <a:xfrm>
          <a:off x="0" y="0"/>
          <a:ext cx="0" cy="0"/>
          <a:chOff x="0" y="0"/>
          <a:chExt cx="0" cy="0"/>
        </a:xfrm>
      </p:grpSpPr>
      <p:cxnSp>
        <p:nvCxnSpPr>
          <p:cNvPr id="2" name="Connector 1"/>
          <p:cNvCxnSpPr/>
          <p:nvPr/>
        </p:nvCxnSpPr>
        <p:spPr>
          <a:xfrm flipV="1">
            <a:off x="8412480" y="731520"/>
            <a:ext cx="1463040" cy="365760"/>
          </a:xfrm>
          <a:prstGeom prst="line">
            <a:avLst/>
          </a:prstGeom>
          <a:ln w="17780">
            <a:solidFill>
              <a:srgbClr val="00B0B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875520" y="731520"/>
            <a:ext cx="1097280" cy="731520"/>
          </a:xfrm>
          <a:prstGeom prst="line">
            <a:avLst/>
          </a:prstGeom>
          <a:ln w="17780">
            <a:solidFill>
              <a:srgbClr val="00B0B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0" y="1097280"/>
            <a:ext cx="457200" cy="1463040"/>
          </a:xfrm>
          <a:prstGeom prst="line">
            <a:avLst/>
          </a:prstGeom>
          <a:ln w="17780">
            <a:solidFill>
              <a:srgbClr val="00B0B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875520" y="731520"/>
            <a:ext cx="548640" cy="1645920"/>
          </a:xfrm>
          <a:prstGeom prst="line">
            <a:avLst/>
          </a:prstGeom>
          <a:ln w="17780">
            <a:solidFill>
              <a:srgbClr val="00B0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424160" y="1463040"/>
            <a:ext cx="548640" cy="914400"/>
          </a:xfrm>
          <a:prstGeom prst="line">
            <a:avLst/>
          </a:prstGeom>
          <a:ln w="17780">
            <a:solidFill>
              <a:srgbClr val="00B0B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972800" y="1463040"/>
            <a:ext cx="365760" cy="1645920"/>
          </a:xfrm>
          <a:prstGeom prst="line">
            <a:avLst/>
          </a:prstGeom>
          <a:ln w="17780">
            <a:solidFill>
              <a:srgbClr val="00B0B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8869680" y="2377440"/>
            <a:ext cx="1554480" cy="182880"/>
          </a:xfrm>
          <a:prstGeom prst="line">
            <a:avLst/>
          </a:prstGeom>
          <a:ln w="17780">
            <a:solidFill>
              <a:srgbClr val="00B0B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869680" y="2560320"/>
            <a:ext cx="365760" cy="1188719"/>
          </a:xfrm>
          <a:prstGeom prst="line">
            <a:avLst/>
          </a:prstGeom>
          <a:ln w="17780">
            <a:solidFill>
              <a:srgbClr val="00B0B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424160" y="2377440"/>
            <a:ext cx="914400" cy="731520"/>
          </a:xfrm>
          <a:prstGeom prst="line">
            <a:avLst/>
          </a:prstGeom>
          <a:ln w="17780">
            <a:solidFill>
              <a:srgbClr val="00B0B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9235440" y="2377440"/>
            <a:ext cx="1188720" cy="1371599"/>
          </a:xfrm>
          <a:prstGeom prst="line">
            <a:avLst/>
          </a:prstGeom>
          <a:ln w="17780">
            <a:solidFill>
              <a:srgbClr val="00B0B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0698480" y="3108960"/>
            <a:ext cx="640080" cy="1005840"/>
          </a:xfrm>
          <a:prstGeom prst="line">
            <a:avLst/>
          </a:prstGeom>
          <a:ln w="17780">
            <a:solidFill>
              <a:srgbClr val="00B0B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235440" y="3749039"/>
            <a:ext cx="1463040" cy="365761"/>
          </a:xfrm>
          <a:prstGeom prst="line">
            <a:avLst/>
          </a:prstGeom>
          <a:ln w="17780">
            <a:solidFill>
              <a:srgbClr val="00B0BD"/>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21040" y="1005839"/>
            <a:ext cx="182880" cy="182880"/>
          </a:xfrm>
          <a:prstGeom prst="ellipse">
            <a:avLst/>
          </a:prstGeom>
          <a:solidFill>
            <a:srgbClr val="F5B73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784080" y="640080"/>
            <a:ext cx="182880" cy="182880"/>
          </a:xfrm>
          <a:prstGeom prst="ellipse">
            <a:avLst/>
          </a:prstGeom>
          <a:solidFill>
            <a:srgbClr val="F5B73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881360" y="1371600"/>
            <a:ext cx="182880" cy="182880"/>
          </a:xfrm>
          <a:prstGeom prst="ellipse">
            <a:avLst/>
          </a:prstGeom>
          <a:solidFill>
            <a:srgbClr val="F5B73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778240" y="2468879"/>
            <a:ext cx="182880" cy="182880"/>
          </a:xfrm>
          <a:prstGeom prst="ellipse">
            <a:avLst/>
          </a:prstGeom>
          <a:solidFill>
            <a:srgbClr val="F5B73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332720" y="2286000"/>
            <a:ext cx="182880" cy="182880"/>
          </a:xfrm>
          <a:prstGeom prst="ellipse">
            <a:avLst/>
          </a:prstGeom>
          <a:solidFill>
            <a:srgbClr val="F5B73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247120" y="3017520"/>
            <a:ext cx="182880" cy="182880"/>
          </a:xfrm>
          <a:prstGeom prst="ellipse">
            <a:avLst/>
          </a:prstGeom>
          <a:solidFill>
            <a:srgbClr val="F5B73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144000" y="3657599"/>
            <a:ext cx="182880" cy="182880"/>
          </a:xfrm>
          <a:prstGeom prst="ellipse">
            <a:avLst/>
          </a:prstGeom>
          <a:solidFill>
            <a:srgbClr val="F5B73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607040" y="4023360"/>
            <a:ext cx="182880" cy="182880"/>
          </a:xfrm>
          <a:prstGeom prst="ellipse">
            <a:avLst/>
          </a:prstGeom>
          <a:solidFill>
            <a:srgbClr val="F5B73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594360"/>
            <a:ext cx="7040880" cy="1920240"/>
          </a:xfrm>
          <a:prstGeom prst="rect">
            <a:avLst/>
          </a:prstGeom>
          <a:noFill/>
        </p:spPr>
        <p:txBody>
          <a:bodyPr wrap="square" lIns="45720" tIns="18288" rIns="45720" bIns="18288">
            <a:spAutoFit/>
          </a:bodyPr>
          <a:lstStyle/>
          <a:p>
            <a:pPr>
              <a:defRPr sz="3000" b="1">
                <a:solidFill>
                  <a:srgbClr val="FFFFFF"/>
                </a:solidFill>
                <a:latin typeface="Aptos"/>
              </a:defRPr>
            </a:pPr>
            <a:r>
              <a:t>Uncertainty-Aware Graph Neural Network for Dynamic NOMA User Grouping under Imperfect CSI</a:t>
            </a:r>
          </a:p>
        </p:txBody>
      </p:sp>
      <p:sp>
        <p:nvSpPr>
          <p:cNvPr id="23" name="TextBox 22"/>
          <p:cNvSpPr txBox="1"/>
          <p:nvPr/>
        </p:nvSpPr>
        <p:spPr>
          <a:xfrm>
            <a:off x="713232" y="2697480"/>
            <a:ext cx="6675120" cy="658368"/>
          </a:xfrm>
          <a:prstGeom prst="rect">
            <a:avLst/>
          </a:prstGeom>
          <a:noFill/>
        </p:spPr>
        <p:txBody>
          <a:bodyPr wrap="square" lIns="45720" tIns="18288" rIns="45720" bIns="18288">
            <a:spAutoFit/>
          </a:bodyPr>
          <a:lstStyle/>
          <a:p>
            <a:pPr>
              <a:defRPr sz="1900" b="1">
                <a:solidFill>
                  <a:srgbClr val="00B0BD"/>
                </a:solidFill>
                <a:latin typeface="Aptos"/>
              </a:defRPr>
            </a:pPr>
            <a:r>
              <a:t>A Semi-Supervised Graph Learning Framework for B5G/6G NOMA</a:t>
            </a:r>
          </a:p>
        </p:txBody>
      </p:sp>
      <p:sp>
        <p:nvSpPr>
          <p:cNvPr id="24" name="TextBox 23"/>
          <p:cNvSpPr txBox="1"/>
          <p:nvPr/>
        </p:nvSpPr>
        <p:spPr>
          <a:xfrm>
            <a:off x="731520" y="3749039"/>
            <a:ext cx="6583680" cy="1452705"/>
          </a:xfrm>
          <a:prstGeom prst="rect">
            <a:avLst/>
          </a:prstGeom>
          <a:noFill/>
        </p:spPr>
        <p:txBody>
          <a:bodyPr wrap="square" lIns="45720" tIns="18288" rIns="45720" bIns="18288">
            <a:spAutoFit/>
          </a:bodyPr>
          <a:lstStyle/>
          <a:p>
            <a:pPr>
              <a:defRPr sz="1600" b="0">
                <a:solidFill>
                  <a:srgbClr val="FFFFFF"/>
                </a:solidFill>
                <a:latin typeface="Aptos"/>
              </a:defRPr>
            </a:pPr>
            <a:r>
              <a:rPr lang="en-IN" dirty="0"/>
              <a:t>Rahul Bodduna – 2520040002</a:t>
            </a:r>
          </a:p>
          <a:p>
            <a:pPr>
              <a:defRPr sz="1600" b="0">
                <a:solidFill>
                  <a:srgbClr val="FFFFFF"/>
                </a:solidFill>
                <a:latin typeface="Aptos"/>
              </a:defRPr>
            </a:pPr>
            <a:r>
              <a:rPr lang="en-IN" dirty="0"/>
              <a:t>Harishwar Reddy Mogiligari – 2520040015</a:t>
            </a:r>
          </a:p>
          <a:p>
            <a:pPr>
              <a:defRPr sz="1600" b="0">
                <a:solidFill>
                  <a:srgbClr val="FFFFFF"/>
                </a:solidFill>
                <a:latin typeface="Aptos"/>
              </a:defRPr>
            </a:pPr>
            <a:r>
              <a:rPr lang="en-IN" dirty="0"/>
              <a:t>Akshay Boppudi – 2520040029</a:t>
            </a:r>
          </a:p>
          <a:p>
            <a:pPr algn="ctr">
              <a:defRPr sz="1600" b="0">
                <a:solidFill>
                  <a:srgbClr val="FFFFFF"/>
                </a:solidFill>
                <a:latin typeface="Aptos"/>
              </a:defRPr>
            </a:pPr>
            <a:br>
              <a:rPr dirty="0"/>
            </a:br>
            <a:r>
              <a:rPr sz="1200" dirty="0"/>
              <a:t>Department of Electronics &amp; Communication Engineering</a:t>
            </a:r>
            <a:br>
              <a:rPr dirty="0"/>
            </a:br>
            <a:endParaRPr dirty="0"/>
          </a:p>
        </p:txBody>
      </p:sp>
      <p:sp>
        <p:nvSpPr>
          <p:cNvPr id="25" name="TextBox 24"/>
          <p:cNvSpPr txBox="1"/>
          <p:nvPr/>
        </p:nvSpPr>
        <p:spPr>
          <a:xfrm>
            <a:off x="731520" y="6172200"/>
            <a:ext cx="7315200" cy="274320"/>
          </a:xfrm>
          <a:prstGeom prst="rect">
            <a:avLst/>
          </a:prstGeom>
          <a:noFill/>
        </p:spPr>
        <p:txBody>
          <a:bodyPr wrap="square" lIns="45720" tIns="18288" rIns="45720" bIns="18288">
            <a:spAutoFit/>
          </a:bodyPr>
          <a:lstStyle/>
          <a:p>
            <a:pPr>
              <a:defRPr sz="1000" b="1">
                <a:solidFill>
                  <a:srgbClr val="D3DFEB"/>
                </a:solidFill>
                <a:latin typeface="Aptos"/>
              </a:defRPr>
            </a:pPr>
            <a:r>
              <a:t>PYTORCH GEOMETRIC  •  GRAPHSAGE  •  CSI UNCERTAINTY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Executive Summary</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02 / 18</a:t>
            </a:r>
          </a:p>
        </p:txBody>
      </p:sp>
      <p:sp>
        <p:nvSpPr>
          <p:cNvPr id="6" name="TextBox 5"/>
          <p:cNvSpPr txBox="1"/>
          <p:nvPr/>
        </p:nvSpPr>
        <p:spPr>
          <a:xfrm>
            <a:off x="658368" y="1325880"/>
            <a:ext cx="5943600" cy="4251960"/>
          </a:xfrm>
          <a:prstGeom prst="rect">
            <a:avLst/>
          </a:prstGeom>
          <a:noFill/>
        </p:spPr>
        <p:txBody>
          <a:bodyPr wrap="square" lIns="73152" rIns="54864">
            <a:spAutoFit/>
          </a:bodyPr>
          <a:lstStyle/>
          <a:p>
            <a:pPr>
              <a:spcAft>
                <a:spcPts val="1000"/>
              </a:spcAft>
              <a:defRPr sz="1700">
                <a:solidFill>
                  <a:srgbClr val="2D3A4A"/>
                </a:solidFill>
                <a:latin typeface="Aptos"/>
              </a:defRPr>
            </a:pPr>
            <a:r>
              <a:t>•  Reported test accuracy: 75.60%</a:t>
            </a:r>
          </a:p>
          <a:p>
            <a:pPr>
              <a:spcAft>
                <a:spcPts val="1000"/>
              </a:spcAft>
              <a:defRPr sz="1700">
                <a:solidFill>
                  <a:srgbClr val="2D3A4A"/>
                </a:solidFill>
                <a:latin typeface="Aptos"/>
              </a:defRPr>
            </a:pPr>
            <a:r>
              <a:t>•  Macro precision: 75.71% | Macro recall: 75.60% | Macro-F1: 75.31%</a:t>
            </a:r>
          </a:p>
          <a:p>
            <a:pPr>
              <a:spcAft>
                <a:spcPts val="1000"/>
              </a:spcAft>
              <a:defRPr sz="1700">
                <a:solidFill>
                  <a:srgbClr val="2D3A4A"/>
                </a:solidFill>
                <a:latin typeface="Aptos"/>
              </a:defRPr>
            </a:pPr>
            <a:r>
              <a:t>•  Four-group task across 100 scenarios and 2,000 users</a:t>
            </a:r>
          </a:p>
          <a:p>
            <a:pPr>
              <a:spcAft>
                <a:spcPts val="1000"/>
              </a:spcAft>
              <a:defRPr sz="1700">
                <a:solidFill>
                  <a:srgbClr val="2D3A4A"/>
                </a:solidFill>
                <a:latin typeface="Aptos"/>
              </a:defRPr>
            </a:pPr>
            <a:r>
              <a:t>•  Proposed model combines masked supervision, graph consistency, and uncertainty-gated pseudo-labels</a:t>
            </a:r>
          </a:p>
          <a:p>
            <a:pPr>
              <a:spcAft>
                <a:spcPts val="1000"/>
              </a:spcAft>
              <a:defRPr sz="1700">
                <a:solidFill>
                  <a:srgbClr val="2D3A4A"/>
                </a:solidFill>
                <a:latin typeface="Aptos"/>
              </a:defRPr>
            </a:pPr>
            <a:r>
              <a:t>•  Best class-wise F1: Group 1 = 90.17%; Groups 2–3 remain the main ambiguity region</a:t>
            </a:r>
          </a:p>
        </p:txBody>
      </p:sp>
      <p:sp>
        <p:nvSpPr>
          <p:cNvPr id="7" name="Rounded Rectangle 6"/>
          <p:cNvSpPr/>
          <p:nvPr/>
        </p:nvSpPr>
        <p:spPr>
          <a:xfrm>
            <a:off x="6903720" y="1508760"/>
            <a:ext cx="2148840" cy="1078992"/>
          </a:xfrm>
          <a:prstGeom prst="roundRect">
            <a:avLst/>
          </a:prstGeom>
          <a:solidFill>
            <a:srgbClr val="FFFFFF"/>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903720" y="1508760"/>
            <a:ext cx="73152" cy="10789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68312" y="1636776"/>
            <a:ext cx="1892808" cy="256032"/>
          </a:xfrm>
          <a:prstGeom prst="rect">
            <a:avLst/>
          </a:prstGeom>
          <a:noFill/>
        </p:spPr>
        <p:txBody>
          <a:bodyPr wrap="square" lIns="45720" tIns="18288" rIns="45720" bIns="18288">
            <a:spAutoFit/>
          </a:bodyPr>
          <a:lstStyle/>
          <a:p>
            <a:pPr>
              <a:defRPr sz="900" b="1">
                <a:solidFill>
                  <a:srgbClr val="667584"/>
                </a:solidFill>
                <a:latin typeface="Aptos"/>
              </a:defRPr>
            </a:pPr>
            <a:r>
              <a:t>TEST ACCURACY</a:t>
            </a:r>
          </a:p>
        </p:txBody>
      </p:sp>
      <p:sp>
        <p:nvSpPr>
          <p:cNvPr id="10" name="TextBox 9"/>
          <p:cNvSpPr txBox="1"/>
          <p:nvPr/>
        </p:nvSpPr>
        <p:spPr>
          <a:xfrm>
            <a:off x="7068312" y="1938528"/>
            <a:ext cx="1892808" cy="411480"/>
          </a:xfrm>
          <a:prstGeom prst="rect">
            <a:avLst/>
          </a:prstGeom>
          <a:noFill/>
        </p:spPr>
        <p:txBody>
          <a:bodyPr wrap="square" lIns="45720" tIns="18288" rIns="45720" bIns="18288">
            <a:spAutoFit/>
          </a:bodyPr>
          <a:lstStyle/>
          <a:p>
            <a:pPr>
              <a:defRPr sz="2400" b="1">
                <a:solidFill>
                  <a:srgbClr val="0E1D34"/>
                </a:solidFill>
                <a:latin typeface="Aptos"/>
              </a:defRPr>
            </a:pPr>
            <a:r>
              <a:t>75.60%</a:t>
            </a:r>
          </a:p>
        </p:txBody>
      </p:sp>
      <p:sp>
        <p:nvSpPr>
          <p:cNvPr id="11" name="Rounded Rectangle 10"/>
          <p:cNvSpPr/>
          <p:nvPr/>
        </p:nvSpPr>
        <p:spPr>
          <a:xfrm>
            <a:off x="9189720" y="1508760"/>
            <a:ext cx="2148840" cy="1078992"/>
          </a:xfrm>
          <a:prstGeom prst="roundRect">
            <a:avLst/>
          </a:prstGeom>
          <a:solidFill>
            <a:srgbClr val="FFFFFF"/>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89720" y="1508760"/>
            <a:ext cx="73152" cy="1078992"/>
          </a:xfrm>
          <a:prstGeom prst="rect">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54312" y="1636776"/>
            <a:ext cx="1892808" cy="256032"/>
          </a:xfrm>
          <a:prstGeom prst="rect">
            <a:avLst/>
          </a:prstGeom>
          <a:noFill/>
        </p:spPr>
        <p:txBody>
          <a:bodyPr wrap="square" lIns="45720" tIns="18288" rIns="45720" bIns="18288">
            <a:spAutoFit/>
          </a:bodyPr>
          <a:lstStyle/>
          <a:p>
            <a:pPr>
              <a:defRPr sz="900" b="1">
                <a:solidFill>
                  <a:srgbClr val="667584"/>
                </a:solidFill>
                <a:latin typeface="Aptos"/>
              </a:defRPr>
            </a:pPr>
            <a:r>
              <a:t>MACRO PRECISION</a:t>
            </a:r>
          </a:p>
        </p:txBody>
      </p:sp>
      <p:sp>
        <p:nvSpPr>
          <p:cNvPr id="14" name="TextBox 13"/>
          <p:cNvSpPr txBox="1"/>
          <p:nvPr/>
        </p:nvSpPr>
        <p:spPr>
          <a:xfrm>
            <a:off x="9354312" y="1938528"/>
            <a:ext cx="1892808" cy="411480"/>
          </a:xfrm>
          <a:prstGeom prst="rect">
            <a:avLst/>
          </a:prstGeom>
          <a:noFill/>
        </p:spPr>
        <p:txBody>
          <a:bodyPr wrap="square" lIns="45720" tIns="18288" rIns="45720" bIns="18288">
            <a:spAutoFit/>
          </a:bodyPr>
          <a:lstStyle/>
          <a:p>
            <a:pPr>
              <a:defRPr sz="2400" b="1">
                <a:solidFill>
                  <a:srgbClr val="0E1D34"/>
                </a:solidFill>
                <a:latin typeface="Aptos"/>
              </a:defRPr>
            </a:pPr>
            <a:r>
              <a:t>75.71%</a:t>
            </a:r>
          </a:p>
        </p:txBody>
      </p:sp>
      <p:sp>
        <p:nvSpPr>
          <p:cNvPr id="15" name="Rounded Rectangle 14"/>
          <p:cNvSpPr/>
          <p:nvPr/>
        </p:nvSpPr>
        <p:spPr>
          <a:xfrm>
            <a:off x="6903720" y="2788920"/>
            <a:ext cx="2148840" cy="1078992"/>
          </a:xfrm>
          <a:prstGeom prst="roundRect">
            <a:avLst/>
          </a:prstGeom>
          <a:solidFill>
            <a:srgbClr val="FFFFFF"/>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903720" y="2788920"/>
            <a:ext cx="73152" cy="1078992"/>
          </a:xfrm>
          <a:prstGeom prst="rect">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68312" y="2916936"/>
            <a:ext cx="1892808" cy="256032"/>
          </a:xfrm>
          <a:prstGeom prst="rect">
            <a:avLst/>
          </a:prstGeom>
          <a:noFill/>
        </p:spPr>
        <p:txBody>
          <a:bodyPr wrap="square" lIns="45720" tIns="18288" rIns="45720" bIns="18288">
            <a:spAutoFit/>
          </a:bodyPr>
          <a:lstStyle/>
          <a:p>
            <a:pPr>
              <a:defRPr sz="900" b="1">
                <a:solidFill>
                  <a:srgbClr val="667584"/>
                </a:solidFill>
                <a:latin typeface="Aptos"/>
              </a:defRPr>
            </a:pPr>
            <a:r>
              <a:t>MACRO RECALL</a:t>
            </a:r>
          </a:p>
        </p:txBody>
      </p:sp>
      <p:sp>
        <p:nvSpPr>
          <p:cNvPr id="18" name="TextBox 17"/>
          <p:cNvSpPr txBox="1"/>
          <p:nvPr/>
        </p:nvSpPr>
        <p:spPr>
          <a:xfrm>
            <a:off x="7068312" y="3218687"/>
            <a:ext cx="1892808" cy="411480"/>
          </a:xfrm>
          <a:prstGeom prst="rect">
            <a:avLst/>
          </a:prstGeom>
          <a:noFill/>
        </p:spPr>
        <p:txBody>
          <a:bodyPr wrap="square" lIns="45720" tIns="18288" rIns="45720" bIns="18288">
            <a:spAutoFit/>
          </a:bodyPr>
          <a:lstStyle/>
          <a:p>
            <a:pPr>
              <a:defRPr sz="2400" b="1">
                <a:solidFill>
                  <a:srgbClr val="0E1D34"/>
                </a:solidFill>
                <a:latin typeface="Aptos"/>
              </a:defRPr>
            </a:pPr>
            <a:r>
              <a:t>75.60%</a:t>
            </a:r>
          </a:p>
        </p:txBody>
      </p:sp>
      <p:sp>
        <p:nvSpPr>
          <p:cNvPr id="19" name="Rounded Rectangle 18"/>
          <p:cNvSpPr/>
          <p:nvPr/>
        </p:nvSpPr>
        <p:spPr>
          <a:xfrm>
            <a:off x="9189720" y="2788920"/>
            <a:ext cx="2148840" cy="1078992"/>
          </a:xfrm>
          <a:prstGeom prst="roundRect">
            <a:avLst/>
          </a:prstGeom>
          <a:solidFill>
            <a:srgbClr val="FFFFFF"/>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189720" y="2788920"/>
            <a:ext cx="73152" cy="1078992"/>
          </a:xfrm>
          <a:prstGeom prst="rect">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54312" y="2916936"/>
            <a:ext cx="1892808" cy="256032"/>
          </a:xfrm>
          <a:prstGeom prst="rect">
            <a:avLst/>
          </a:prstGeom>
          <a:noFill/>
        </p:spPr>
        <p:txBody>
          <a:bodyPr wrap="square" lIns="45720" tIns="18288" rIns="45720" bIns="18288">
            <a:spAutoFit/>
          </a:bodyPr>
          <a:lstStyle/>
          <a:p>
            <a:pPr>
              <a:defRPr sz="900" b="1">
                <a:solidFill>
                  <a:srgbClr val="667584"/>
                </a:solidFill>
                <a:latin typeface="Aptos"/>
              </a:defRPr>
            </a:pPr>
            <a:r>
              <a:t>MACRO F1</a:t>
            </a:r>
          </a:p>
        </p:txBody>
      </p:sp>
      <p:sp>
        <p:nvSpPr>
          <p:cNvPr id="22" name="TextBox 21"/>
          <p:cNvSpPr txBox="1"/>
          <p:nvPr/>
        </p:nvSpPr>
        <p:spPr>
          <a:xfrm>
            <a:off x="9354312" y="3218687"/>
            <a:ext cx="1892808" cy="411480"/>
          </a:xfrm>
          <a:prstGeom prst="rect">
            <a:avLst/>
          </a:prstGeom>
          <a:noFill/>
        </p:spPr>
        <p:txBody>
          <a:bodyPr wrap="square" lIns="45720" tIns="18288" rIns="45720" bIns="18288">
            <a:spAutoFit/>
          </a:bodyPr>
          <a:lstStyle/>
          <a:p>
            <a:pPr>
              <a:defRPr sz="2400" b="1">
                <a:solidFill>
                  <a:srgbClr val="0E1D34"/>
                </a:solidFill>
                <a:latin typeface="Aptos"/>
              </a:defRPr>
            </a:pPr>
            <a:r>
              <a:t>75.31%</a:t>
            </a:r>
          </a:p>
        </p:txBody>
      </p:sp>
      <p:sp>
        <p:nvSpPr>
          <p:cNvPr id="23" name="Rounded Rectangle 22"/>
          <p:cNvSpPr/>
          <p:nvPr/>
        </p:nvSpPr>
        <p:spPr>
          <a:xfrm>
            <a:off x="6903720" y="4251960"/>
            <a:ext cx="4434840" cy="777240"/>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050024" y="4343400"/>
            <a:ext cx="4142231" cy="612647"/>
          </a:xfrm>
          <a:prstGeom prst="rect">
            <a:avLst/>
          </a:prstGeom>
          <a:noFill/>
        </p:spPr>
        <p:txBody>
          <a:bodyPr wrap="square" lIns="45720" tIns="18288" rIns="45720" bIns="18288">
            <a:spAutoFit/>
          </a:bodyPr>
          <a:lstStyle/>
          <a:p>
            <a:pPr>
              <a:defRPr sz="1300" b="1">
                <a:solidFill>
                  <a:srgbClr val="FFFFFF"/>
                </a:solidFill>
                <a:latin typeface="Cambria Math"/>
              </a:defRPr>
            </a:pPr>
            <a:r>
              <a:t>L_total = L_sup + λ L_cons + μ L_pseudo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Background &amp; Motivation</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03 / 18</a:t>
            </a:r>
          </a:p>
        </p:txBody>
      </p:sp>
      <p:sp>
        <p:nvSpPr>
          <p:cNvPr id="6" name="TextBox 5"/>
          <p:cNvSpPr txBox="1"/>
          <p:nvPr/>
        </p:nvSpPr>
        <p:spPr>
          <a:xfrm>
            <a:off x="658368" y="1325880"/>
            <a:ext cx="5669280" cy="4251960"/>
          </a:xfrm>
          <a:prstGeom prst="rect">
            <a:avLst/>
          </a:prstGeom>
          <a:noFill/>
        </p:spPr>
        <p:txBody>
          <a:bodyPr wrap="square" lIns="73152" rIns="54864">
            <a:spAutoFit/>
          </a:bodyPr>
          <a:lstStyle/>
          <a:p>
            <a:pPr>
              <a:spcAft>
                <a:spcPts val="1000"/>
              </a:spcAft>
              <a:defRPr sz="1600">
                <a:solidFill>
                  <a:srgbClr val="2D3A4A"/>
                </a:solidFill>
                <a:latin typeface="Aptos"/>
              </a:defRPr>
            </a:pPr>
            <a:r>
              <a:t>•  B5G/6G networks face growing demand for spectral and energy efficiency</a:t>
            </a:r>
          </a:p>
          <a:p>
            <a:pPr>
              <a:spcAft>
                <a:spcPts val="1000"/>
              </a:spcAft>
              <a:defRPr sz="1600">
                <a:solidFill>
                  <a:srgbClr val="2D3A4A"/>
                </a:solidFill>
                <a:latin typeface="Aptos"/>
              </a:defRPr>
            </a:pPr>
            <a:r>
              <a:t>•  Power-domain NOMA allows multiple users to share a time-frequency resource</a:t>
            </a:r>
          </a:p>
          <a:p>
            <a:pPr>
              <a:spcAft>
                <a:spcPts val="1000"/>
              </a:spcAft>
              <a:defRPr sz="1600">
                <a:solidFill>
                  <a:srgbClr val="2D3A4A"/>
                </a:solidFill>
                <a:latin typeface="Aptos"/>
              </a:defRPr>
            </a:pPr>
            <a:r>
              <a:t>•  Group composition influences interference relationships and potential SIC feasibility</a:t>
            </a:r>
          </a:p>
          <a:p>
            <a:pPr>
              <a:spcAft>
                <a:spcPts val="1000"/>
              </a:spcAft>
              <a:defRPr sz="1600">
                <a:solidFill>
                  <a:srgbClr val="2D3A4A"/>
                </a:solidFill>
                <a:latin typeface="Aptos"/>
              </a:defRPr>
            </a:pPr>
            <a:r>
              <a:t>•  Channel conditions and user geometry change over time</a:t>
            </a:r>
          </a:p>
          <a:p>
            <a:pPr>
              <a:spcAft>
                <a:spcPts val="1000"/>
              </a:spcAft>
              <a:defRPr sz="1600">
                <a:solidFill>
                  <a:srgbClr val="2D3A4A"/>
                </a:solidFill>
                <a:latin typeface="Aptos"/>
              </a:defRPr>
            </a:pPr>
            <a:r>
              <a:t>•  Dynamic grouping must adapt to channel features while managing imperfect observations</a:t>
            </a:r>
          </a:p>
        </p:txBody>
      </p:sp>
      <p:sp>
        <p:nvSpPr>
          <p:cNvPr id="7" name="Rounded Rectangle 6"/>
          <p:cNvSpPr/>
          <p:nvPr/>
        </p:nvSpPr>
        <p:spPr>
          <a:xfrm>
            <a:off x="7543800" y="1371600"/>
            <a:ext cx="3977639" cy="3154680"/>
          </a:xfrm>
          <a:prstGeom prst="roundRect">
            <a:avLst/>
          </a:prstGeom>
          <a:solidFill>
            <a:srgbClr val="FFFFFF"/>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08392" y="1499616"/>
            <a:ext cx="3648456" cy="274320"/>
          </a:xfrm>
          <a:prstGeom prst="rect">
            <a:avLst/>
          </a:prstGeom>
          <a:noFill/>
        </p:spPr>
        <p:txBody>
          <a:bodyPr wrap="square" lIns="45720" tIns="18288" rIns="45720" bIns="18288">
            <a:spAutoFit/>
          </a:bodyPr>
          <a:lstStyle/>
          <a:p>
            <a:pPr>
              <a:defRPr sz="1000" b="1">
                <a:solidFill>
                  <a:srgbClr val="11827F"/>
                </a:solidFill>
                <a:latin typeface="Aptos"/>
              </a:defRPr>
            </a:pPr>
            <a:r>
              <a:t>VISUAL / DIAGRAM</a:t>
            </a:r>
          </a:p>
        </p:txBody>
      </p:sp>
      <p:sp>
        <p:nvSpPr>
          <p:cNvPr id="9" name="TextBox 8"/>
          <p:cNvSpPr txBox="1"/>
          <p:nvPr/>
        </p:nvSpPr>
        <p:spPr>
          <a:xfrm>
            <a:off x="7708392" y="1874519"/>
            <a:ext cx="3648456" cy="2496312"/>
          </a:xfrm>
          <a:prstGeom prst="rect">
            <a:avLst/>
          </a:prstGeom>
          <a:noFill/>
        </p:spPr>
        <p:txBody>
          <a:bodyPr wrap="square" lIns="45720" tIns="18288" rIns="45720" bIns="18288">
            <a:spAutoFit/>
          </a:bodyPr>
          <a:lstStyle/>
          <a:p>
            <a:pPr>
              <a:defRPr sz="1400" b="0">
                <a:solidFill>
                  <a:srgbClr val="2D3A4A"/>
                </a:solidFill>
                <a:latin typeface="Aptos"/>
              </a:defRPr>
            </a:pPr>
            <a:r>
              <a:t>Base-station illustration with four users sharing a resource; annotate stronger/weaker channel examples.</a:t>
            </a:r>
          </a:p>
        </p:txBody>
      </p:sp>
      <p:sp>
        <p:nvSpPr>
          <p:cNvPr id="10" name="Rounded Rectangle 9"/>
          <p:cNvSpPr/>
          <p:nvPr/>
        </p:nvSpPr>
        <p:spPr>
          <a:xfrm>
            <a:off x="7543800" y="4800600"/>
            <a:ext cx="3977639" cy="749808"/>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0104" y="4892040"/>
            <a:ext cx="3685031" cy="585215"/>
          </a:xfrm>
          <a:prstGeom prst="rect">
            <a:avLst/>
          </a:prstGeom>
          <a:noFill/>
        </p:spPr>
        <p:txBody>
          <a:bodyPr wrap="square" lIns="45720" tIns="18288" rIns="45720" bIns="18288">
            <a:spAutoFit/>
          </a:bodyPr>
          <a:lstStyle/>
          <a:p>
            <a:pPr>
              <a:defRPr sz="1300" b="1">
                <a:solidFill>
                  <a:srgbClr val="FFFFFF"/>
                </a:solidFill>
                <a:latin typeface="Cambria Math"/>
              </a:defRPr>
            </a:pPr>
            <a:r>
              <a:t>η = R / B  [bit/s/Hz] — context metric; not measured by this ML core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The Core Challenge: Imperfect CSI</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04 / 18</a:t>
            </a:r>
          </a:p>
        </p:txBody>
      </p:sp>
      <p:sp>
        <p:nvSpPr>
          <p:cNvPr id="6" name="TextBox 5"/>
          <p:cNvSpPr txBox="1"/>
          <p:nvPr/>
        </p:nvSpPr>
        <p:spPr>
          <a:xfrm>
            <a:off x="658368" y="1325880"/>
            <a:ext cx="5669280" cy="4251960"/>
          </a:xfrm>
          <a:prstGeom prst="rect">
            <a:avLst/>
          </a:prstGeom>
          <a:noFill/>
        </p:spPr>
        <p:txBody>
          <a:bodyPr wrap="square" lIns="73152" rIns="54864">
            <a:spAutoFit/>
          </a:bodyPr>
          <a:lstStyle/>
          <a:p>
            <a:pPr>
              <a:spcAft>
                <a:spcPts val="1000"/>
              </a:spcAft>
              <a:defRPr sz="1600">
                <a:solidFill>
                  <a:srgbClr val="2D3A4A"/>
                </a:solidFill>
                <a:latin typeface="Aptos"/>
              </a:defRPr>
            </a:pPr>
            <a:r>
              <a:t>•  CSI estimates can be affected by pilot noise, Doppler, feedback delay, and model mismatch</a:t>
            </a:r>
          </a:p>
          <a:p>
            <a:pPr>
              <a:spcAft>
                <a:spcPts val="1000"/>
              </a:spcAft>
              <a:defRPr sz="1600">
                <a:solidFill>
                  <a:srgbClr val="2D3A4A"/>
                </a:solidFill>
                <a:latin typeface="Aptos"/>
              </a:defRPr>
            </a:pPr>
            <a:r>
              <a:t>•  Two users may appear similar because of true channel similarity—or estimation error</a:t>
            </a:r>
          </a:p>
          <a:p>
            <a:pPr>
              <a:spcAft>
                <a:spcPts val="1000"/>
              </a:spcAft>
              <a:defRPr sz="1600">
                <a:solidFill>
                  <a:srgbClr val="2D3A4A"/>
                </a:solidFill>
                <a:latin typeface="Aptos"/>
              </a:defRPr>
            </a:pPr>
            <a:r>
              <a:t>•  Uncertainty is exposed as a feature and used to screen pseudo-label candidates</a:t>
            </a:r>
          </a:p>
          <a:p>
            <a:pPr>
              <a:spcAft>
                <a:spcPts val="1000"/>
              </a:spcAft>
              <a:defRPr sz="1600">
                <a:solidFill>
                  <a:srgbClr val="2D3A4A"/>
                </a:solidFill>
                <a:latin typeface="Aptos"/>
              </a:defRPr>
            </a:pPr>
            <a:r>
              <a:t>•  Exact |h − ĥ|² requires true CSI in the benchmark; deployment needs a measurable proxy</a:t>
            </a:r>
          </a:p>
          <a:p>
            <a:pPr>
              <a:spcAft>
                <a:spcPts val="1000"/>
              </a:spcAft>
              <a:defRPr sz="1600">
                <a:solidFill>
                  <a:srgbClr val="2D3A4A"/>
                </a:solidFill>
                <a:latin typeface="Aptos"/>
              </a:defRPr>
            </a:pPr>
            <a:r>
              <a:t>•  Conventional feature-only grouping may treat high- and low-reliability observations alike</a:t>
            </a:r>
          </a:p>
        </p:txBody>
      </p:sp>
      <p:sp>
        <p:nvSpPr>
          <p:cNvPr id="7" name="Rounded Rectangle 6"/>
          <p:cNvSpPr/>
          <p:nvPr/>
        </p:nvSpPr>
        <p:spPr>
          <a:xfrm>
            <a:off x="7543800" y="1371600"/>
            <a:ext cx="3977639" cy="3154680"/>
          </a:xfrm>
          <a:prstGeom prst="roundRect">
            <a:avLst/>
          </a:prstGeom>
          <a:solidFill>
            <a:srgbClr val="FFFFFF"/>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08392" y="1499616"/>
            <a:ext cx="3648456" cy="274320"/>
          </a:xfrm>
          <a:prstGeom prst="rect">
            <a:avLst/>
          </a:prstGeom>
          <a:noFill/>
        </p:spPr>
        <p:txBody>
          <a:bodyPr wrap="square" lIns="45720" tIns="18288" rIns="45720" bIns="18288">
            <a:spAutoFit/>
          </a:bodyPr>
          <a:lstStyle/>
          <a:p>
            <a:pPr>
              <a:defRPr sz="1000" b="1">
                <a:solidFill>
                  <a:srgbClr val="11827F"/>
                </a:solidFill>
                <a:latin typeface="Aptos"/>
              </a:defRPr>
            </a:pPr>
            <a:r>
              <a:t>VISUAL / DIAGRAM</a:t>
            </a:r>
          </a:p>
        </p:txBody>
      </p:sp>
      <p:sp>
        <p:nvSpPr>
          <p:cNvPr id="9" name="TextBox 8"/>
          <p:cNvSpPr txBox="1"/>
          <p:nvPr/>
        </p:nvSpPr>
        <p:spPr>
          <a:xfrm>
            <a:off x="7708392" y="1874519"/>
            <a:ext cx="3648456" cy="2496312"/>
          </a:xfrm>
          <a:prstGeom prst="rect">
            <a:avLst/>
          </a:prstGeom>
          <a:noFill/>
        </p:spPr>
        <p:txBody>
          <a:bodyPr wrap="square" lIns="45720" tIns="18288" rIns="45720" bIns="18288">
            <a:spAutoFit/>
          </a:bodyPr>
          <a:lstStyle/>
          <a:p>
            <a:pPr>
              <a:defRPr sz="1400" b="0">
                <a:solidFill>
                  <a:srgbClr val="2D3A4A"/>
                </a:solidFill>
                <a:latin typeface="Aptos"/>
              </a:defRPr>
            </a:pPr>
            <a:r>
              <a:t>Complex-plane diagram: true CSI point, estimated CSI point, error vector, and squared-error annotation.</a:t>
            </a:r>
          </a:p>
        </p:txBody>
      </p:sp>
      <p:sp>
        <p:nvSpPr>
          <p:cNvPr id="10" name="Rounded Rectangle 9"/>
          <p:cNvSpPr/>
          <p:nvPr/>
        </p:nvSpPr>
        <p:spPr>
          <a:xfrm>
            <a:off x="7543800" y="4800600"/>
            <a:ext cx="3977639" cy="749808"/>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0104" y="4892040"/>
            <a:ext cx="3685031" cy="585215"/>
          </a:xfrm>
          <a:prstGeom prst="rect">
            <a:avLst/>
          </a:prstGeom>
          <a:noFill/>
        </p:spPr>
        <p:txBody>
          <a:bodyPr wrap="square" lIns="45720" tIns="18288" rIns="45720" bIns="18288">
            <a:spAutoFit/>
          </a:bodyPr>
          <a:lstStyle/>
          <a:p>
            <a:pPr>
              <a:defRPr sz="1300" b="1">
                <a:solidFill>
                  <a:srgbClr val="FFFFFF"/>
                </a:solidFill>
                <a:latin typeface="Cambria Math"/>
              </a:defRPr>
            </a:pPr>
            <a:r>
              <a:t>eᵢ = hᵢ − ĥᵢ     |     uᵢ = |eᵢ|² = (hᵣ−ĥᵣ)² + (hᵢ−ĥᵢ)²</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Research Scope &amp; Project Boundaries</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05 / 18</a:t>
            </a:r>
          </a:p>
        </p:txBody>
      </p:sp>
      <p:sp>
        <p:nvSpPr>
          <p:cNvPr id="6" name="TextBox 5"/>
          <p:cNvSpPr txBox="1"/>
          <p:nvPr/>
        </p:nvSpPr>
        <p:spPr>
          <a:xfrm>
            <a:off x="658368" y="1325880"/>
            <a:ext cx="5669280" cy="4251960"/>
          </a:xfrm>
          <a:prstGeom prst="rect">
            <a:avLst/>
          </a:prstGeom>
          <a:noFill/>
        </p:spPr>
        <p:txBody>
          <a:bodyPr wrap="square" lIns="73152" rIns="54864">
            <a:spAutoFit/>
          </a:bodyPr>
          <a:lstStyle/>
          <a:p>
            <a:pPr>
              <a:spcAft>
                <a:spcPts val="1000"/>
              </a:spcAft>
              <a:defRPr sz="1600">
                <a:solidFill>
                  <a:srgbClr val="2D3A4A"/>
                </a:solidFill>
                <a:latin typeface="Aptos"/>
              </a:defRPr>
            </a:pPr>
            <a:r>
              <a:t>•  IN SCOPE: feature engineering, scenario graphs, GNN training/inference, alignment, metrics, artifacts</a:t>
            </a:r>
          </a:p>
          <a:p>
            <a:pPr>
              <a:spcAft>
                <a:spcPts val="1000"/>
              </a:spcAft>
              <a:defRPr sz="1600">
                <a:solidFill>
                  <a:srgbClr val="2D3A4A"/>
                </a:solidFill>
                <a:latin typeface="Aptos"/>
              </a:defRPr>
            </a:pPr>
            <a:r>
              <a:t>•  Predicted groups come directly from Softmax argmax</a:t>
            </a:r>
          </a:p>
          <a:p>
            <a:pPr>
              <a:spcAft>
                <a:spcPts val="1000"/>
              </a:spcAft>
              <a:defRPr sz="1600">
                <a:solidFill>
                  <a:srgbClr val="2D3A4A"/>
                </a:solidFill>
                <a:latin typeface="Aptos"/>
              </a:defRPr>
            </a:pPr>
            <a:r>
              <a:t>•  OUT OF SCOPE FOR THIS PHASE: power allocation, SIC, SINR, BER, sum-rate optimization</a:t>
            </a:r>
          </a:p>
          <a:p>
            <a:pPr>
              <a:spcAft>
                <a:spcPts val="1000"/>
              </a:spcAft>
              <a:defRPr sz="1600">
                <a:solidFill>
                  <a:srgbClr val="2D3A4A"/>
                </a:solidFill>
                <a:latin typeface="Aptos"/>
              </a:defRPr>
            </a:pPr>
            <a:r>
              <a:t>•  Downstream modules will consume predicted groups through a defined interface</a:t>
            </a:r>
          </a:p>
          <a:p>
            <a:pPr>
              <a:spcAft>
                <a:spcPts val="1000"/>
              </a:spcAft>
              <a:defRPr sz="1600">
                <a:solidFill>
                  <a:srgbClr val="2D3A4A"/>
                </a:solidFill>
                <a:latin typeface="Aptos"/>
              </a:defRPr>
            </a:pPr>
            <a:r>
              <a:t>•  Keep grouping-model evaluation separate from physical-layer performance evaluation</a:t>
            </a:r>
          </a:p>
        </p:txBody>
      </p:sp>
      <p:sp>
        <p:nvSpPr>
          <p:cNvPr id="7" name="Rounded Rectangle 6"/>
          <p:cNvSpPr/>
          <p:nvPr/>
        </p:nvSpPr>
        <p:spPr>
          <a:xfrm>
            <a:off x="7543800" y="1371600"/>
            <a:ext cx="3977639" cy="3154680"/>
          </a:xfrm>
          <a:prstGeom prst="roundRect">
            <a:avLst/>
          </a:prstGeom>
          <a:solidFill>
            <a:srgbClr val="FFFFFF"/>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08392" y="1499616"/>
            <a:ext cx="3648456" cy="274320"/>
          </a:xfrm>
          <a:prstGeom prst="rect">
            <a:avLst/>
          </a:prstGeom>
          <a:noFill/>
        </p:spPr>
        <p:txBody>
          <a:bodyPr wrap="square" lIns="45720" tIns="18288" rIns="45720" bIns="18288">
            <a:spAutoFit/>
          </a:bodyPr>
          <a:lstStyle/>
          <a:p>
            <a:pPr>
              <a:defRPr sz="1000" b="1">
                <a:solidFill>
                  <a:srgbClr val="11827F"/>
                </a:solidFill>
                <a:latin typeface="Aptos"/>
              </a:defRPr>
            </a:pPr>
            <a:r>
              <a:t>VISUAL / DIAGRAM</a:t>
            </a:r>
          </a:p>
        </p:txBody>
      </p:sp>
      <p:sp>
        <p:nvSpPr>
          <p:cNvPr id="9" name="TextBox 8"/>
          <p:cNvSpPr txBox="1"/>
          <p:nvPr/>
        </p:nvSpPr>
        <p:spPr>
          <a:xfrm>
            <a:off x="7708392" y="1874519"/>
            <a:ext cx="3648456" cy="2496312"/>
          </a:xfrm>
          <a:prstGeom prst="rect">
            <a:avLst/>
          </a:prstGeom>
          <a:noFill/>
        </p:spPr>
        <p:txBody>
          <a:bodyPr wrap="square" lIns="45720" tIns="18288" rIns="45720" bIns="18288">
            <a:spAutoFit/>
          </a:bodyPr>
          <a:lstStyle/>
          <a:p>
            <a:pPr>
              <a:defRPr sz="1400" b="0">
                <a:solidFill>
                  <a:srgbClr val="2D3A4A"/>
                </a:solidFill>
                <a:latin typeface="Aptos"/>
              </a:defRPr>
            </a:pPr>
            <a:r>
              <a:t>Two-box architecture: solid ML core → dashed future physical-layer evaluation.</a:t>
            </a:r>
          </a:p>
        </p:txBody>
      </p:sp>
      <p:sp>
        <p:nvSpPr>
          <p:cNvPr id="10" name="Rounded Rectangle 9"/>
          <p:cNvSpPr/>
          <p:nvPr/>
        </p:nvSpPr>
        <p:spPr>
          <a:xfrm>
            <a:off x="7543800" y="4800600"/>
            <a:ext cx="3977639" cy="749808"/>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0104" y="4892040"/>
            <a:ext cx="3685031" cy="585215"/>
          </a:xfrm>
          <a:prstGeom prst="rect">
            <a:avLst/>
          </a:prstGeom>
          <a:noFill/>
        </p:spPr>
        <p:txBody>
          <a:bodyPr wrap="square" lIns="45720" tIns="18288" rIns="45720" bIns="18288">
            <a:spAutoFit/>
          </a:bodyPr>
          <a:lstStyle/>
          <a:p>
            <a:pPr>
              <a:defRPr sz="1300" b="1">
                <a:solidFill>
                  <a:srgbClr val="FFFFFF"/>
                </a:solidFill>
                <a:latin typeface="Cambria Math"/>
              </a:defRPr>
            </a:pPr>
            <a:r>
              <a:t>pᵢ = Softmax(zᵢ);    ŷᵢ = arg max_c pᵢ,c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End-to-End System Pipeline</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06 / 18</a:t>
            </a:r>
          </a:p>
        </p:txBody>
      </p:sp>
      <p:sp>
        <p:nvSpPr>
          <p:cNvPr id="6" name="TextBox 5"/>
          <p:cNvSpPr txBox="1"/>
          <p:nvPr/>
        </p:nvSpPr>
        <p:spPr>
          <a:xfrm>
            <a:off x="658368" y="1325880"/>
            <a:ext cx="5669280" cy="4251960"/>
          </a:xfrm>
          <a:prstGeom prst="rect">
            <a:avLst/>
          </a:prstGeom>
          <a:noFill/>
        </p:spPr>
        <p:txBody>
          <a:bodyPr wrap="square" lIns="73152" rIns="54864">
            <a:spAutoFit/>
          </a:bodyPr>
          <a:lstStyle/>
          <a:p>
            <a:pPr>
              <a:spcAft>
                <a:spcPts val="1000"/>
              </a:spcAft>
              <a:defRPr sz="1500">
                <a:solidFill>
                  <a:srgbClr val="2D3A4A"/>
                </a:solidFill>
                <a:latin typeface="Aptos"/>
              </a:defRPr>
            </a:pPr>
            <a:r>
              <a:t>•  External scenario CSV → schema validation and feature preprocessing</a:t>
            </a:r>
          </a:p>
          <a:p>
            <a:pPr>
              <a:spcAft>
                <a:spcPts val="1000"/>
              </a:spcAft>
              <a:defRPr sz="1500">
                <a:solidFill>
                  <a:srgbClr val="2D3A4A"/>
                </a:solidFill>
                <a:latin typeface="Aptos"/>
              </a:defRPr>
            </a:pPr>
            <a:r>
              <a:t>•  Fit scaler on training scenarios only; freeze it for validation/test</a:t>
            </a:r>
          </a:p>
          <a:p>
            <a:pPr>
              <a:spcAft>
                <a:spcPts val="1000"/>
              </a:spcAft>
              <a:defRPr sz="1500">
                <a:solidFill>
                  <a:srgbClr val="2D3A4A"/>
                </a:solidFill>
                <a:latin typeface="Aptos"/>
              </a:defRPr>
            </a:pPr>
            <a:r>
              <a:t>•  Build one graph per scenario using user features and k-NN/channel similarity</a:t>
            </a:r>
          </a:p>
          <a:p>
            <a:pPr>
              <a:spcAft>
                <a:spcPts val="1000"/>
              </a:spcAft>
              <a:defRPr sz="1500">
                <a:solidFill>
                  <a:srgbClr val="2D3A4A"/>
                </a:solidFill>
                <a:latin typeface="Aptos"/>
              </a:defRPr>
            </a:pPr>
            <a:r>
              <a:t>•  Train GraphSAGE with supervised, consistency, and pseudo-label objectives</a:t>
            </a:r>
          </a:p>
          <a:p>
            <a:pPr>
              <a:spcAft>
                <a:spcPts val="1000"/>
              </a:spcAft>
              <a:defRPr sz="1500">
                <a:solidFill>
                  <a:srgbClr val="2D3A4A"/>
                </a:solidFill>
                <a:latin typeface="Aptos"/>
              </a:defRPr>
            </a:pPr>
            <a:r>
              <a:t>•  Evaluate with label alignment; export predictions, metrics, embeddings, and GraphML</a:t>
            </a:r>
          </a:p>
        </p:txBody>
      </p:sp>
      <p:sp>
        <p:nvSpPr>
          <p:cNvPr id="7" name="Rounded Rectangle 6"/>
          <p:cNvSpPr/>
          <p:nvPr/>
        </p:nvSpPr>
        <p:spPr>
          <a:xfrm>
            <a:off x="6446520" y="1600200"/>
            <a:ext cx="1389888" cy="713232"/>
          </a:xfrm>
          <a:prstGeom prst="roundRect">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01383" y="1755648"/>
            <a:ext cx="1280160" cy="384048"/>
          </a:xfrm>
          <a:prstGeom prst="rect">
            <a:avLst/>
          </a:prstGeom>
          <a:noFill/>
        </p:spPr>
        <p:txBody>
          <a:bodyPr wrap="square" lIns="45720" tIns="18288" rIns="45720" bIns="18288">
            <a:spAutoFit/>
          </a:bodyPr>
          <a:lstStyle/>
          <a:p>
            <a:pPr algn="ctr">
              <a:defRPr sz="1100" b="1">
                <a:solidFill>
                  <a:srgbClr val="FFFFFF"/>
                </a:solidFill>
                <a:latin typeface="Aptos"/>
              </a:defRPr>
            </a:pPr>
            <a:r>
              <a:t>External</a:t>
            </a:r>
            <a:br/>
            <a:r>
              <a:t>CSV</a:t>
            </a:r>
          </a:p>
        </p:txBody>
      </p:sp>
      <p:sp>
        <p:nvSpPr>
          <p:cNvPr id="9" name="Rounded Rectangle 8"/>
          <p:cNvSpPr/>
          <p:nvPr/>
        </p:nvSpPr>
        <p:spPr>
          <a:xfrm>
            <a:off x="8110727" y="1600200"/>
            <a:ext cx="1389888" cy="713232"/>
          </a:xfrm>
          <a:prstGeom prst="round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65592" y="1755648"/>
            <a:ext cx="1280160" cy="384048"/>
          </a:xfrm>
          <a:prstGeom prst="rect">
            <a:avLst/>
          </a:prstGeom>
          <a:noFill/>
        </p:spPr>
        <p:txBody>
          <a:bodyPr wrap="square" lIns="45720" tIns="18288" rIns="45720" bIns="18288">
            <a:spAutoFit/>
          </a:bodyPr>
          <a:lstStyle/>
          <a:p>
            <a:pPr algn="ctr">
              <a:defRPr sz="1100" b="1">
                <a:solidFill>
                  <a:srgbClr val="FFFFFF"/>
                </a:solidFill>
                <a:latin typeface="Aptos"/>
              </a:defRPr>
            </a:pPr>
            <a:r>
              <a:t>Preprocess</a:t>
            </a:r>
            <a:br/>
            <a:r>
              <a:t>train-only scale</a:t>
            </a:r>
          </a:p>
        </p:txBody>
      </p:sp>
      <p:sp>
        <p:nvSpPr>
          <p:cNvPr id="11" name="Rounded Rectangle 10"/>
          <p:cNvSpPr/>
          <p:nvPr/>
        </p:nvSpPr>
        <p:spPr>
          <a:xfrm>
            <a:off x="9774936" y="1600200"/>
            <a:ext cx="1389888" cy="713232"/>
          </a:xfrm>
          <a:prstGeom prst="roundRect">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29800" y="1755648"/>
            <a:ext cx="1280160" cy="384048"/>
          </a:xfrm>
          <a:prstGeom prst="rect">
            <a:avLst/>
          </a:prstGeom>
          <a:noFill/>
        </p:spPr>
        <p:txBody>
          <a:bodyPr wrap="square" lIns="45720" tIns="18288" rIns="45720" bIns="18288">
            <a:spAutoFit/>
          </a:bodyPr>
          <a:lstStyle/>
          <a:p>
            <a:pPr algn="ctr">
              <a:defRPr sz="1100" b="1">
                <a:solidFill>
                  <a:srgbClr val="FFFFFF"/>
                </a:solidFill>
                <a:latin typeface="Aptos"/>
              </a:defRPr>
            </a:pPr>
            <a:r>
              <a:t>Scenario</a:t>
            </a:r>
            <a:br/>
            <a:r>
              <a:t>Graph</a:t>
            </a:r>
          </a:p>
        </p:txBody>
      </p:sp>
      <p:sp>
        <p:nvSpPr>
          <p:cNvPr id="13" name="Rounded Rectangle 12"/>
          <p:cNvSpPr/>
          <p:nvPr/>
        </p:nvSpPr>
        <p:spPr>
          <a:xfrm>
            <a:off x="6446520" y="2953512"/>
            <a:ext cx="1389888" cy="713232"/>
          </a:xfrm>
          <a:prstGeom prst="roundRect">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01383" y="3108960"/>
            <a:ext cx="1280160" cy="384048"/>
          </a:xfrm>
          <a:prstGeom prst="rect">
            <a:avLst/>
          </a:prstGeom>
          <a:noFill/>
        </p:spPr>
        <p:txBody>
          <a:bodyPr wrap="square" lIns="45720" tIns="18288" rIns="45720" bIns="18288">
            <a:spAutoFit/>
          </a:bodyPr>
          <a:lstStyle/>
          <a:p>
            <a:pPr algn="ctr">
              <a:defRPr sz="1100" b="1">
                <a:solidFill>
                  <a:srgbClr val="FFFFFF"/>
                </a:solidFill>
                <a:latin typeface="Aptos"/>
              </a:defRPr>
            </a:pPr>
            <a:r>
              <a:t>GNN</a:t>
            </a:r>
            <a:br/>
            <a:r>
              <a:t>training</a:t>
            </a:r>
          </a:p>
        </p:txBody>
      </p:sp>
      <p:sp>
        <p:nvSpPr>
          <p:cNvPr id="15" name="Rounded Rectangle 14"/>
          <p:cNvSpPr/>
          <p:nvPr/>
        </p:nvSpPr>
        <p:spPr>
          <a:xfrm>
            <a:off x="8110727" y="2953512"/>
            <a:ext cx="1389888" cy="713232"/>
          </a:xfrm>
          <a:prstGeom prst="roundRect">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65592" y="3108960"/>
            <a:ext cx="1280160" cy="384048"/>
          </a:xfrm>
          <a:prstGeom prst="rect">
            <a:avLst/>
          </a:prstGeom>
          <a:noFill/>
        </p:spPr>
        <p:txBody>
          <a:bodyPr wrap="square" lIns="45720" tIns="18288" rIns="45720" bIns="18288">
            <a:spAutoFit/>
          </a:bodyPr>
          <a:lstStyle/>
          <a:p>
            <a:pPr algn="ctr">
              <a:defRPr sz="1100" b="1">
                <a:solidFill>
                  <a:srgbClr val="FFFFFF"/>
                </a:solidFill>
                <a:latin typeface="Aptos"/>
              </a:defRPr>
            </a:pPr>
            <a:r>
              <a:t>Evaluate</a:t>
            </a:r>
            <a:br/>
            <a:r>
              <a:t>&amp; align</a:t>
            </a:r>
          </a:p>
        </p:txBody>
      </p:sp>
      <p:sp>
        <p:nvSpPr>
          <p:cNvPr id="17" name="Rounded Rectangle 16"/>
          <p:cNvSpPr/>
          <p:nvPr/>
        </p:nvSpPr>
        <p:spPr>
          <a:xfrm>
            <a:off x="9774936" y="2953512"/>
            <a:ext cx="1389888" cy="713232"/>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829800" y="3108960"/>
            <a:ext cx="1280160" cy="384048"/>
          </a:xfrm>
          <a:prstGeom prst="rect">
            <a:avLst/>
          </a:prstGeom>
          <a:noFill/>
        </p:spPr>
        <p:txBody>
          <a:bodyPr wrap="square" lIns="45720" tIns="18288" rIns="45720" bIns="18288">
            <a:spAutoFit/>
          </a:bodyPr>
          <a:lstStyle/>
          <a:p>
            <a:pPr algn="ctr">
              <a:defRPr sz="1100" b="1">
                <a:solidFill>
                  <a:srgbClr val="FFFFFF"/>
                </a:solidFill>
                <a:latin typeface="Aptos"/>
              </a:defRPr>
            </a:pPr>
            <a:r>
              <a:t>Artifacts</a:t>
            </a:r>
          </a:p>
        </p:txBody>
      </p:sp>
      <p:cxnSp>
        <p:nvCxnSpPr>
          <p:cNvPr id="19" name="Connector 18"/>
          <p:cNvCxnSpPr/>
          <p:nvPr/>
        </p:nvCxnSpPr>
        <p:spPr>
          <a:xfrm>
            <a:off x="7836408" y="1956816"/>
            <a:ext cx="274319" cy="0"/>
          </a:xfrm>
          <a:prstGeom prst="line">
            <a:avLst/>
          </a:prstGeom>
          <a:ln w="16510">
            <a:solidFill>
              <a:srgbClr val="66758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500616" y="1956816"/>
            <a:ext cx="274320" cy="0"/>
          </a:xfrm>
          <a:prstGeom prst="line">
            <a:avLst/>
          </a:prstGeom>
          <a:ln w="16510">
            <a:solidFill>
              <a:srgbClr val="66758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836408" y="3310128"/>
            <a:ext cx="274319" cy="0"/>
          </a:xfrm>
          <a:prstGeom prst="line">
            <a:avLst/>
          </a:prstGeom>
          <a:ln w="16510">
            <a:solidFill>
              <a:srgbClr val="66758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500616" y="3310128"/>
            <a:ext cx="274320" cy="0"/>
          </a:xfrm>
          <a:prstGeom prst="line">
            <a:avLst/>
          </a:prstGeom>
          <a:ln w="16510">
            <a:solidFill>
              <a:srgbClr val="66758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141464" y="2331720"/>
            <a:ext cx="0" cy="685800"/>
          </a:xfrm>
          <a:prstGeom prst="line">
            <a:avLst/>
          </a:prstGeom>
          <a:ln w="16510">
            <a:solidFill>
              <a:srgbClr val="66758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805672" y="2331720"/>
            <a:ext cx="0" cy="685800"/>
          </a:xfrm>
          <a:prstGeom prst="line">
            <a:avLst/>
          </a:prstGeom>
          <a:ln w="16510">
            <a:solidFill>
              <a:srgbClr val="66758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469880" y="2331720"/>
            <a:ext cx="0" cy="685800"/>
          </a:xfrm>
          <a:prstGeom prst="line">
            <a:avLst/>
          </a:prstGeom>
          <a:ln w="16510">
            <a:solidFill>
              <a:srgbClr val="667584"/>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492240" y="4754880"/>
            <a:ext cx="4800600" cy="822960"/>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38544" y="4846320"/>
            <a:ext cx="4507992" cy="658368"/>
          </a:xfrm>
          <a:prstGeom prst="rect">
            <a:avLst/>
          </a:prstGeom>
          <a:noFill/>
        </p:spPr>
        <p:txBody>
          <a:bodyPr wrap="square" lIns="45720" tIns="18288" rIns="45720" bIns="18288">
            <a:spAutoFit/>
          </a:bodyPr>
          <a:lstStyle/>
          <a:p>
            <a:pPr>
              <a:defRPr sz="1300" b="1">
                <a:solidFill>
                  <a:srgbClr val="FFFFFF"/>
                </a:solidFill>
                <a:latin typeface="Cambria Math"/>
              </a:defRPr>
            </a:pPr>
            <a:r>
              <a:t>CSV → Preprocess → Graph Builder → GNN → Align/Evaluate → Artifacts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Data Preprocessing &amp; CSI Uncertainty Modeling</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07 / 18</a:t>
            </a:r>
          </a:p>
        </p:txBody>
      </p:sp>
      <p:sp>
        <p:nvSpPr>
          <p:cNvPr id="6" name="TextBox 5"/>
          <p:cNvSpPr txBox="1"/>
          <p:nvPr/>
        </p:nvSpPr>
        <p:spPr>
          <a:xfrm>
            <a:off x="658368" y="1325880"/>
            <a:ext cx="5806440" cy="4251960"/>
          </a:xfrm>
          <a:prstGeom prst="rect">
            <a:avLst/>
          </a:prstGeom>
          <a:noFill/>
        </p:spPr>
        <p:txBody>
          <a:bodyPr wrap="square" lIns="73152" rIns="54864">
            <a:spAutoFit/>
          </a:bodyPr>
          <a:lstStyle/>
          <a:p>
            <a:pPr>
              <a:spcAft>
                <a:spcPts val="1000"/>
              </a:spcAft>
              <a:defRPr sz="1500">
                <a:solidFill>
                  <a:srgbClr val="2D3A4A"/>
                </a:solidFill>
                <a:latin typeface="Aptos"/>
              </a:defRPr>
            </a:pPr>
            <a:r>
              <a:t>•  Features: channel_gain, distance, SNR, channel_real/imag, estimated_channel_real/imag, CSI uncertainty</a:t>
            </a:r>
          </a:p>
          <a:p>
            <a:pPr>
              <a:spcAft>
                <a:spcPts val="1000"/>
              </a:spcAft>
              <a:defRPr sz="1500">
                <a:solidFill>
                  <a:srgbClr val="2D3A4A"/>
                </a:solidFill>
                <a:latin typeface="Aptos"/>
              </a:defRPr>
            </a:pPr>
            <a:r>
              <a:t>•  Compute CSI error from true minus estimated complex channel</a:t>
            </a:r>
          </a:p>
          <a:p>
            <a:pPr>
              <a:spcAft>
                <a:spcPts val="1000"/>
              </a:spcAft>
              <a:defRPr sz="1500">
                <a:solidFill>
                  <a:srgbClr val="2D3A4A"/>
                </a:solidFill>
                <a:latin typeface="Aptos"/>
              </a:defRPr>
            </a:pPr>
            <a:r>
              <a:t>•  Use the squared magnitude of the complex error as a non-negative uncertainty scalar</a:t>
            </a:r>
          </a:p>
          <a:p>
            <a:pPr>
              <a:spcAft>
                <a:spcPts val="1000"/>
              </a:spcAft>
              <a:defRPr sz="1500">
                <a:solidFill>
                  <a:srgbClr val="2D3A4A"/>
                </a:solidFill>
                <a:latin typeface="Aptos"/>
              </a:defRPr>
            </a:pPr>
            <a:r>
              <a:t>•  StandardScaler is fitted only on training scenario rows</a:t>
            </a:r>
          </a:p>
          <a:p>
            <a:pPr>
              <a:spcAft>
                <a:spcPts val="1000"/>
              </a:spcAft>
              <a:defRPr sz="1500">
                <a:solidFill>
                  <a:srgbClr val="2D3A4A"/>
                </a:solidFill>
                <a:latin typeface="Aptos"/>
              </a:defRPr>
            </a:pPr>
            <a:r>
              <a:t>•  Apply the frozen transform to validation and test; gate pseudo-labels on consistently scaled/raw uncertainty</a:t>
            </a:r>
          </a:p>
        </p:txBody>
      </p:sp>
      <p:sp>
        <p:nvSpPr>
          <p:cNvPr id="7" name="Rounded Rectangle 6"/>
          <p:cNvSpPr/>
          <p:nvPr/>
        </p:nvSpPr>
        <p:spPr>
          <a:xfrm>
            <a:off x="6629400" y="1600200"/>
            <a:ext cx="4617720" cy="1051560"/>
          </a:xfrm>
          <a:prstGeom prst="roundRect">
            <a:avLst/>
          </a:prstGeom>
          <a:solidFill>
            <a:srgbClr val="FFFFFF"/>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12280" y="1755648"/>
            <a:ext cx="4251960" cy="658368"/>
          </a:xfrm>
          <a:prstGeom prst="rect">
            <a:avLst/>
          </a:prstGeom>
          <a:noFill/>
        </p:spPr>
        <p:txBody>
          <a:bodyPr wrap="square" lIns="45720" tIns="18288" rIns="45720" bIns="18288">
            <a:spAutoFit/>
          </a:bodyPr>
          <a:lstStyle/>
          <a:p>
            <a:pPr algn="ctr">
              <a:defRPr sz="1300" b="1">
                <a:solidFill>
                  <a:srgbClr val="0E1D34"/>
                </a:solidFill>
                <a:latin typeface="Aptos"/>
              </a:defRPr>
            </a:pPr>
            <a:r>
              <a:t>xᵢ = [gain, distance, SNR, hᵣ, hᵢ, ĥᵣ, ĥᵢ, uᵢ]</a:t>
            </a:r>
          </a:p>
        </p:txBody>
      </p:sp>
      <p:cxnSp>
        <p:nvCxnSpPr>
          <p:cNvPr id="9" name="Connector 8"/>
          <p:cNvCxnSpPr/>
          <p:nvPr/>
        </p:nvCxnSpPr>
        <p:spPr>
          <a:xfrm>
            <a:off x="8942832" y="2697480"/>
            <a:ext cx="0" cy="365760"/>
          </a:xfrm>
          <a:prstGeom prst="line">
            <a:avLst/>
          </a:prstGeom>
          <a:ln w="25400">
            <a:solidFill>
              <a:srgbClr val="00B0BD"/>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903720" y="3063240"/>
            <a:ext cx="4069080" cy="685800"/>
          </a:xfrm>
          <a:prstGeom prst="roundRect">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0" y="3255264"/>
            <a:ext cx="3794760" cy="256032"/>
          </a:xfrm>
          <a:prstGeom prst="rect">
            <a:avLst/>
          </a:prstGeom>
          <a:noFill/>
        </p:spPr>
        <p:txBody>
          <a:bodyPr wrap="square" lIns="45720" tIns="18288" rIns="45720" bIns="18288">
            <a:spAutoFit/>
          </a:bodyPr>
          <a:lstStyle/>
          <a:p>
            <a:pPr algn="ctr">
              <a:defRPr sz="1300" b="1">
                <a:solidFill>
                  <a:srgbClr val="FFFFFF"/>
                </a:solidFill>
                <a:latin typeface="Aptos"/>
              </a:defRPr>
            </a:pPr>
            <a:r>
              <a:t>Scaler.fit(train scenarios only)</a:t>
            </a:r>
          </a:p>
        </p:txBody>
      </p:sp>
      <p:cxnSp>
        <p:nvCxnSpPr>
          <p:cNvPr id="12" name="Connector 11"/>
          <p:cNvCxnSpPr/>
          <p:nvPr/>
        </p:nvCxnSpPr>
        <p:spPr>
          <a:xfrm>
            <a:off x="8942832" y="3749039"/>
            <a:ext cx="0" cy="320041"/>
          </a:xfrm>
          <a:prstGeom prst="line">
            <a:avLst/>
          </a:prstGeom>
          <a:ln w="25400">
            <a:solidFill>
              <a:srgbClr val="00B0B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903720" y="4069080"/>
            <a:ext cx="4069080" cy="640080"/>
          </a:xfrm>
          <a:prstGeom prst="roundRect">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40880" y="4242816"/>
            <a:ext cx="3794760" cy="256032"/>
          </a:xfrm>
          <a:prstGeom prst="rect">
            <a:avLst/>
          </a:prstGeom>
          <a:noFill/>
        </p:spPr>
        <p:txBody>
          <a:bodyPr wrap="square" lIns="45720" tIns="18288" rIns="45720" bIns="18288">
            <a:spAutoFit/>
          </a:bodyPr>
          <a:lstStyle/>
          <a:p>
            <a:pPr algn="ctr">
              <a:defRPr sz="1100" b="1">
                <a:solidFill>
                  <a:srgbClr val="FFFFFF"/>
                </a:solidFill>
                <a:latin typeface="Aptos"/>
              </a:defRPr>
            </a:pPr>
            <a:r>
              <a:t>Transform validation/test with frozen scaler</a:t>
            </a:r>
          </a:p>
        </p:txBody>
      </p:sp>
      <p:sp>
        <p:nvSpPr>
          <p:cNvPr id="15" name="Rounded Rectangle 14"/>
          <p:cNvSpPr/>
          <p:nvPr/>
        </p:nvSpPr>
        <p:spPr>
          <a:xfrm>
            <a:off x="6675120" y="5029200"/>
            <a:ext cx="4572000" cy="804672"/>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21424" y="5120640"/>
            <a:ext cx="4279392" cy="640080"/>
          </a:xfrm>
          <a:prstGeom prst="rect">
            <a:avLst/>
          </a:prstGeom>
          <a:noFill/>
        </p:spPr>
        <p:txBody>
          <a:bodyPr wrap="square" lIns="45720" tIns="18288" rIns="45720" bIns="18288">
            <a:spAutoFit/>
          </a:bodyPr>
          <a:lstStyle/>
          <a:p>
            <a:pPr>
              <a:defRPr sz="1300" b="1">
                <a:solidFill>
                  <a:srgbClr val="FFFFFF"/>
                </a:solidFill>
                <a:latin typeface="Cambria Math"/>
              </a:defRPr>
            </a:pPr>
            <a:r>
              <a:t>xᵢ = [gᵢ, dᵢ, γᵢ, hᵣ, hᵢ, ĥᵣ, ĥᵢ, uᵢ]ᵀ ∈ ℝ⁸</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Dynamic Graph Construction Framework</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08 / 18</a:t>
            </a:r>
          </a:p>
        </p:txBody>
      </p:sp>
      <p:sp>
        <p:nvSpPr>
          <p:cNvPr id="6" name="TextBox 5"/>
          <p:cNvSpPr txBox="1"/>
          <p:nvPr/>
        </p:nvSpPr>
        <p:spPr>
          <a:xfrm>
            <a:off x="658368" y="1325880"/>
            <a:ext cx="5669280" cy="4251960"/>
          </a:xfrm>
          <a:prstGeom prst="rect">
            <a:avLst/>
          </a:prstGeom>
          <a:noFill/>
        </p:spPr>
        <p:txBody>
          <a:bodyPr wrap="square" lIns="73152" rIns="54864">
            <a:spAutoFit/>
          </a:bodyPr>
          <a:lstStyle/>
          <a:p>
            <a:pPr>
              <a:spcAft>
                <a:spcPts val="1000"/>
              </a:spcAft>
              <a:defRPr sz="1500">
                <a:solidFill>
                  <a:srgbClr val="2D3A4A"/>
                </a:solidFill>
                <a:latin typeface="Aptos"/>
              </a:defRPr>
            </a:pPr>
            <a:r>
              <a:t>•  Each scenario becomes a graph; nodes represent users</a:t>
            </a:r>
          </a:p>
          <a:p>
            <a:pPr>
              <a:spcAft>
                <a:spcPts val="1000"/>
              </a:spcAft>
              <a:defRPr sz="1500">
                <a:solidFill>
                  <a:srgbClr val="2D3A4A"/>
                </a:solidFill>
                <a:latin typeface="Aptos"/>
              </a:defRPr>
            </a:pPr>
            <a:r>
              <a:t>•  Edges encode channel similarity or spatial proximity</a:t>
            </a:r>
          </a:p>
          <a:p>
            <a:pPr>
              <a:spcAft>
                <a:spcPts val="1000"/>
              </a:spcAft>
              <a:defRPr sz="1500">
                <a:solidFill>
                  <a:srgbClr val="2D3A4A"/>
                </a:solidFill>
                <a:latin typeface="Aptos"/>
              </a:defRPr>
            </a:pPr>
            <a:r>
              <a:t>•  Configured k-NN: k = 4 nearest neighbors per user</a:t>
            </a:r>
          </a:p>
          <a:p>
            <a:pPr>
              <a:spcAft>
                <a:spcPts val="1000"/>
              </a:spcAft>
              <a:defRPr sz="1500">
                <a:solidFill>
                  <a:srgbClr val="2D3A4A"/>
                </a:solidFill>
                <a:latin typeface="Aptos"/>
              </a:defRPr>
            </a:pPr>
            <a:r>
              <a:t>•  Alternative builders: Gaussian channel similarity and fully connected topology</a:t>
            </a:r>
          </a:p>
          <a:p>
            <a:pPr>
              <a:spcAft>
                <a:spcPts val="1000"/>
              </a:spcAft>
              <a:defRPr sz="1500">
                <a:solidFill>
                  <a:srgbClr val="2D3A4A"/>
                </a:solidFill>
                <a:latin typeface="Aptos"/>
              </a:defRPr>
            </a:pPr>
            <a:r>
              <a:t>•  Edge policy, symmetrization, distance metric, and weights must be documented</a:t>
            </a:r>
          </a:p>
        </p:txBody>
      </p:sp>
      <p:sp>
        <p:nvSpPr>
          <p:cNvPr id="7" name="Rounded Rectangle 6"/>
          <p:cNvSpPr/>
          <p:nvPr/>
        </p:nvSpPr>
        <p:spPr>
          <a:xfrm>
            <a:off x="6446520" y="1554480"/>
            <a:ext cx="1508760" cy="3246120"/>
          </a:xfrm>
          <a:prstGeom prst="roundRect">
            <a:avLst/>
          </a:prstGeom>
          <a:solidFill>
            <a:srgbClr val="FFFFFF"/>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19672" y="1691640"/>
            <a:ext cx="1362456" cy="274320"/>
          </a:xfrm>
          <a:prstGeom prst="rect">
            <a:avLst/>
          </a:prstGeom>
          <a:noFill/>
        </p:spPr>
        <p:txBody>
          <a:bodyPr wrap="square" lIns="45720" tIns="18288" rIns="45720" bIns="18288">
            <a:spAutoFit/>
          </a:bodyPr>
          <a:lstStyle/>
          <a:p>
            <a:pPr algn="ctr">
              <a:defRPr sz="1000" b="1">
                <a:solidFill>
                  <a:srgbClr val="0E1D34"/>
                </a:solidFill>
                <a:latin typeface="Aptos"/>
              </a:defRPr>
            </a:pPr>
            <a:r>
              <a:t>kNN k=4</a:t>
            </a:r>
          </a:p>
        </p:txBody>
      </p:sp>
      <p:cxnSp>
        <p:nvCxnSpPr>
          <p:cNvPr id="9" name="Connector 8"/>
          <p:cNvCxnSpPr/>
          <p:nvPr/>
        </p:nvCxnSpPr>
        <p:spPr>
          <a:xfrm>
            <a:off x="6720840" y="2331720"/>
            <a:ext cx="868680" cy="0"/>
          </a:xfrm>
          <a:prstGeom prst="line">
            <a:avLst/>
          </a:prstGeom>
          <a:ln w="12700">
            <a:solidFill>
              <a:srgbClr val="1F5CA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720840" y="2331720"/>
            <a:ext cx="137160" cy="731520"/>
          </a:xfrm>
          <a:prstGeom prst="line">
            <a:avLst/>
          </a:prstGeom>
          <a:ln w="12700">
            <a:solidFill>
              <a:srgbClr val="1F5CA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7498079" y="2331720"/>
            <a:ext cx="91441" cy="731520"/>
          </a:xfrm>
          <a:prstGeom prst="line">
            <a:avLst/>
          </a:prstGeom>
          <a:ln w="12700">
            <a:solidFill>
              <a:srgbClr val="1F5CA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063240"/>
            <a:ext cx="640079" cy="0"/>
          </a:xfrm>
          <a:prstGeom prst="line">
            <a:avLst/>
          </a:prstGeom>
          <a:ln w="12700">
            <a:solidFill>
              <a:srgbClr val="1F5CA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063240"/>
            <a:ext cx="320040" cy="914399"/>
          </a:xfrm>
          <a:prstGeom prst="line">
            <a:avLst/>
          </a:prstGeom>
          <a:ln w="12700">
            <a:solidFill>
              <a:srgbClr val="1F5CA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7178040" y="3063240"/>
            <a:ext cx="320039" cy="914399"/>
          </a:xfrm>
          <a:prstGeom prst="line">
            <a:avLst/>
          </a:prstGeom>
          <a:ln w="12700">
            <a:solidFill>
              <a:srgbClr val="1F5CA0"/>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652259" y="2263139"/>
            <a:ext cx="137160" cy="137160"/>
          </a:xfrm>
          <a:prstGeom prst="ellipse">
            <a:avLst/>
          </a:prstGeom>
          <a:solidFill>
            <a:srgbClr val="1F5CA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520940" y="2263139"/>
            <a:ext cx="137160" cy="137160"/>
          </a:xfrm>
          <a:prstGeom prst="ellipse">
            <a:avLst/>
          </a:prstGeom>
          <a:solidFill>
            <a:srgbClr val="1F5CA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789420" y="2994660"/>
            <a:ext cx="137160" cy="137160"/>
          </a:xfrm>
          <a:prstGeom prst="ellipse">
            <a:avLst/>
          </a:prstGeom>
          <a:solidFill>
            <a:srgbClr val="1F5CA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429500" y="2994660"/>
            <a:ext cx="137160" cy="137160"/>
          </a:xfrm>
          <a:prstGeom prst="ellipse">
            <a:avLst/>
          </a:prstGeom>
          <a:solidFill>
            <a:srgbClr val="1F5CA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09459" y="3909059"/>
            <a:ext cx="137160" cy="137160"/>
          </a:xfrm>
          <a:prstGeom prst="ellipse">
            <a:avLst/>
          </a:prstGeom>
          <a:solidFill>
            <a:srgbClr val="1F5CA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119871" y="1554480"/>
            <a:ext cx="1508760" cy="3246120"/>
          </a:xfrm>
          <a:prstGeom prst="roundRect">
            <a:avLst/>
          </a:prstGeom>
          <a:solidFill>
            <a:srgbClr val="FFFFFF"/>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93023" y="1691640"/>
            <a:ext cx="1362456" cy="274320"/>
          </a:xfrm>
          <a:prstGeom prst="rect">
            <a:avLst/>
          </a:prstGeom>
          <a:noFill/>
        </p:spPr>
        <p:txBody>
          <a:bodyPr wrap="square" lIns="45720" tIns="18288" rIns="45720" bIns="18288">
            <a:spAutoFit/>
          </a:bodyPr>
          <a:lstStyle/>
          <a:p>
            <a:pPr algn="ctr">
              <a:defRPr sz="1000" b="1">
                <a:solidFill>
                  <a:srgbClr val="0E1D34"/>
                </a:solidFill>
                <a:latin typeface="Aptos"/>
              </a:defRPr>
            </a:pPr>
            <a:r>
              <a:t>Gaussian weights</a:t>
            </a:r>
          </a:p>
        </p:txBody>
      </p:sp>
      <p:cxnSp>
        <p:nvCxnSpPr>
          <p:cNvPr id="22" name="Connector 21"/>
          <p:cNvCxnSpPr/>
          <p:nvPr/>
        </p:nvCxnSpPr>
        <p:spPr>
          <a:xfrm>
            <a:off x="8394192" y="2331720"/>
            <a:ext cx="868680" cy="0"/>
          </a:xfrm>
          <a:prstGeom prst="line">
            <a:avLst/>
          </a:prstGeom>
          <a:ln w="25400">
            <a:solidFill>
              <a:srgbClr val="11827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394192" y="2331720"/>
            <a:ext cx="137159" cy="731520"/>
          </a:xfrm>
          <a:prstGeom prst="line">
            <a:avLst/>
          </a:prstGeom>
          <a:ln w="25400">
            <a:solidFill>
              <a:srgbClr val="11827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9171432" y="2331720"/>
            <a:ext cx="91440" cy="731520"/>
          </a:xfrm>
          <a:prstGeom prst="line">
            <a:avLst/>
          </a:prstGeom>
          <a:ln w="25400">
            <a:solidFill>
              <a:srgbClr val="11827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31351" y="3063240"/>
            <a:ext cx="640081" cy="0"/>
          </a:xfrm>
          <a:prstGeom prst="line">
            <a:avLst/>
          </a:prstGeom>
          <a:ln w="25400">
            <a:solidFill>
              <a:srgbClr val="11827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531351" y="3063240"/>
            <a:ext cx="320041" cy="914399"/>
          </a:xfrm>
          <a:prstGeom prst="line">
            <a:avLst/>
          </a:prstGeom>
          <a:ln w="25400">
            <a:solidFill>
              <a:srgbClr val="11827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8851392" y="3063240"/>
            <a:ext cx="320040" cy="914399"/>
          </a:xfrm>
          <a:prstGeom prst="line">
            <a:avLst/>
          </a:prstGeom>
          <a:ln w="25400">
            <a:solidFill>
              <a:srgbClr val="11827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394192" y="2331720"/>
            <a:ext cx="457200" cy="1645919"/>
          </a:xfrm>
          <a:prstGeom prst="line">
            <a:avLst/>
          </a:prstGeom>
          <a:ln w="25400">
            <a:solidFill>
              <a:srgbClr val="11827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8531351" y="2331720"/>
            <a:ext cx="731521" cy="731520"/>
          </a:xfrm>
          <a:prstGeom prst="line">
            <a:avLst/>
          </a:prstGeom>
          <a:ln w="25400">
            <a:solidFill>
              <a:srgbClr val="11827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8325612" y="2263139"/>
            <a:ext cx="137160" cy="137160"/>
          </a:xfrm>
          <a:prstGeom prst="ellipse">
            <a:avLst/>
          </a:prstGeom>
          <a:solidFill>
            <a:srgbClr val="11827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9194292" y="2263139"/>
            <a:ext cx="137160" cy="137160"/>
          </a:xfrm>
          <a:prstGeom prst="ellipse">
            <a:avLst/>
          </a:prstGeom>
          <a:solidFill>
            <a:srgbClr val="11827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462772" y="2994660"/>
            <a:ext cx="137160" cy="137160"/>
          </a:xfrm>
          <a:prstGeom prst="ellipse">
            <a:avLst/>
          </a:prstGeom>
          <a:solidFill>
            <a:srgbClr val="11827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9102852" y="2994660"/>
            <a:ext cx="137160" cy="137160"/>
          </a:xfrm>
          <a:prstGeom prst="ellipse">
            <a:avLst/>
          </a:prstGeom>
          <a:solidFill>
            <a:srgbClr val="11827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8782812" y="3909059"/>
            <a:ext cx="137160" cy="137160"/>
          </a:xfrm>
          <a:prstGeom prst="ellipse">
            <a:avLst/>
          </a:prstGeom>
          <a:solidFill>
            <a:srgbClr val="11827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793224" y="1554480"/>
            <a:ext cx="1508760" cy="3246120"/>
          </a:xfrm>
          <a:prstGeom prst="roundRect">
            <a:avLst/>
          </a:prstGeom>
          <a:solidFill>
            <a:srgbClr val="FFFFFF"/>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866376" y="1691640"/>
            <a:ext cx="1362456" cy="274320"/>
          </a:xfrm>
          <a:prstGeom prst="rect">
            <a:avLst/>
          </a:prstGeom>
          <a:noFill/>
        </p:spPr>
        <p:txBody>
          <a:bodyPr wrap="square" lIns="45720" tIns="18288" rIns="45720" bIns="18288">
            <a:spAutoFit/>
          </a:bodyPr>
          <a:lstStyle/>
          <a:p>
            <a:pPr algn="ctr">
              <a:defRPr sz="1000" b="1">
                <a:solidFill>
                  <a:srgbClr val="0E1D34"/>
                </a:solidFill>
                <a:latin typeface="Aptos"/>
              </a:defRPr>
            </a:pPr>
            <a:r>
              <a:t>Fully connected</a:t>
            </a:r>
          </a:p>
        </p:txBody>
      </p:sp>
      <p:cxnSp>
        <p:nvCxnSpPr>
          <p:cNvPr id="37" name="Connector 36"/>
          <p:cNvCxnSpPr/>
          <p:nvPr/>
        </p:nvCxnSpPr>
        <p:spPr>
          <a:xfrm>
            <a:off x="10067544" y="2331720"/>
            <a:ext cx="868680" cy="0"/>
          </a:xfrm>
          <a:prstGeom prst="line">
            <a:avLst/>
          </a:prstGeom>
          <a:ln w="12700">
            <a:solidFill>
              <a:srgbClr val="F5B73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067544" y="2331720"/>
            <a:ext cx="137160" cy="731520"/>
          </a:xfrm>
          <a:prstGeom prst="line">
            <a:avLst/>
          </a:prstGeom>
          <a:ln w="12700">
            <a:solidFill>
              <a:srgbClr val="F5B73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067544" y="2331720"/>
            <a:ext cx="777240" cy="731520"/>
          </a:xfrm>
          <a:prstGeom prst="line">
            <a:avLst/>
          </a:prstGeom>
          <a:ln w="12700">
            <a:solidFill>
              <a:srgbClr val="F5B73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067544" y="2331720"/>
            <a:ext cx="457200" cy="1645919"/>
          </a:xfrm>
          <a:prstGeom prst="line">
            <a:avLst/>
          </a:prstGeom>
          <a:ln w="12700">
            <a:solidFill>
              <a:srgbClr val="F5B73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10204704" y="2331720"/>
            <a:ext cx="731520" cy="731520"/>
          </a:xfrm>
          <a:prstGeom prst="line">
            <a:avLst/>
          </a:prstGeom>
          <a:ln w="12700">
            <a:solidFill>
              <a:srgbClr val="F5B73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10844784" y="2331720"/>
            <a:ext cx="91440" cy="731520"/>
          </a:xfrm>
          <a:prstGeom prst="line">
            <a:avLst/>
          </a:prstGeom>
          <a:ln w="12700">
            <a:solidFill>
              <a:srgbClr val="F5B737"/>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10524744" y="2331720"/>
            <a:ext cx="411480" cy="1645919"/>
          </a:xfrm>
          <a:prstGeom prst="line">
            <a:avLst/>
          </a:prstGeom>
          <a:ln w="12700">
            <a:solidFill>
              <a:srgbClr val="F5B737"/>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204704" y="3063240"/>
            <a:ext cx="640080" cy="0"/>
          </a:xfrm>
          <a:prstGeom prst="line">
            <a:avLst/>
          </a:prstGeom>
          <a:ln w="12700">
            <a:solidFill>
              <a:srgbClr val="F5B737"/>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204704" y="3063240"/>
            <a:ext cx="320040" cy="914399"/>
          </a:xfrm>
          <a:prstGeom prst="line">
            <a:avLst/>
          </a:prstGeom>
          <a:ln w="12700">
            <a:solidFill>
              <a:srgbClr val="F5B737"/>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10524744" y="3063240"/>
            <a:ext cx="320040" cy="914399"/>
          </a:xfrm>
          <a:prstGeom prst="line">
            <a:avLst/>
          </a:prstGeom>
          <a:ln w="12700">
            <a:solidFill>
              <a:srgbClr val="F5B737"/>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9998964" y="2263139"/>
            <a:ext cx="137160" cy="137160"/>
          </a:xfrm>
          <a:prstGeom prst="ellipse">
            <a:avLst/>
          </a:prstGeom>
          <a:solidFill>
            <a:srgbClr val="F5B73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0867644" y="2263139"/>
            <a:ext cx="137160" cy="137160"/>
          </a:xfrm>
          <a:prstGeom prst="ellipse">
            <a:avLst/>
          </a:prstGeom>
          <a:solidFill>
            <a:srgbClr val="F5B73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0136124" y="2994660"/>
            <a:ext cx="137160" cy="137160"/>
          </a:xfrm>
          <a:prstGeom prst="ellipse">
            <a:avLst/>
          </a:prstGeom>
          <a:solidFill>
            <a:srgbClr val="F5B73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776204" y="2994660"/>
            <a:ext cx="137160" cy="137160"/>
          </a:xfrm>
          <a:prstGeom prst="ellipse">
            <a:avLst/>
          </a:prstGeom>
          <a:solidFill>
            <a:srgbClr val="F5B73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0456164" y="3909059"/>
            <a:ext cx="137160" cy="137160"/>
          </a:xfrm>
          <a:prstGeom prst="ellipse">
            <a:avLst/>
          </a:prstGeom>
          <a:solidFill>
            <a:srgbClr val="F5B73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6446520" y="5166360"/>
            <a:ext cx="4892040" cy="685800"/>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592824" y="5257800"/>
            <a:ext cx="4599431" cy="521208"/>
          </a:xfrm>
          <a:prstGeom prst="rect">
            <a:avLst/>
          </a:prstGeom>
          <a:noFill/>
        </p:spPr>
        <p:txBody>
          <a:bodyPr wrap="square" lIns="45720" tIns="18288" rIns="45720" bIns="18288">
            <a:spAutoFit/>
          </a:bodyPr>
          <a:lstStyle/>
          <a:p>
            <a:pPr>
              <a:defRPr sz="1300" b="1">
                <a:solidFill>
                  <a:srgbClr val="FFFFFF"/>
                </a:solidFill>
                <a:latin typeface="Cambria Math"/>
              </a:defRPr>
            </a:pPr>
            <a:r>
              <a:t>G = (V, E, X, A)   |   wᵢⱼ = exp(−δ(qᵢ,qⱼ)² / 2σ²)</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GNN Backbone Architecture</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09 / 18</a:t>
            </a:r>
          </a:p>
        </p:txBody>
      </p:sp>
      <p:sp>
        <p:nvSpPr>
          <p:cNvPr id="6" name="TextBox 5"/>
          <p:cNvSpPr txBox="1"/>
          <p:nvPr/>
        </p:nvSpPr>
        <p:spPr>
          <a:xfrm>
            <a:off x="658368" y="1325880"/>
            <a:ext cx="5943600" cy="4251960"/>
          </a:xfrm>
          <a:prstGeom prst="rect">
            <a:avLst/>
          </a:prstGeom>
          <a:noFill/>
        </p:spPr>
        <p:txBody>
          <a:bodyPr wrap="square" lIns="73152" rIns="54864">
            <a:spAutoFit/>
          </a:bodyPr>
          <a:lstStyle/>
          <a:p>
            <a:pPr>
              <a:spcAft>
                <a:spcPts val="1000"/>
              </a:spcAft>
              <a:defRPr sz="1600">
                <a:solidFill>
                  <a:srgbClr val="2D3A4A"/>
                </a:solidFill>
                <a:latin typeface="Aptos"/>
              </a:defRPr>
            </a:pPr>
            <a:r>
              <a:t>•  Default backbone: GraphSAGE; supported alternatives: GCN and GAT</a:t>
            </a:r>
          </a:p>
          <a:p>
            <a:pPr>
              <a:spcAft>
                <a:spcPts val="1000"/>
              </a:spcAft>
              <a:defRPr sz="1600">
                <a:solidFill>
                  <a:srgbClr val="2D3A4A"/>
                </a:solidFill>
                <a:latin typeface="Aptos"/>
              </a:defRPr>
            </a:pPr>
            <a:r>
              <a:t>•  Three message-passing layers build contextual node embeddings</a:t>
            </a:r>
          </a:p>
          <a:p>
            <a:pPr>
              <a:spcAft>
                <a:spcPts val="1000"/>
              </a:spcAft>
              <a:defRPr sz="1600">
                <a:solidFill>
                  <a:srgbClr val="2D3A4A"/>
                </a:solidFill>
                <a:latin typeface="Aptos"/>
              </a:defRPr>
            </a:pPr>
            <a:r>
              <a:t>•  ReLU nonlinearity and dropout p = 0.2 regularize representation learning</a:t>
            </a:r>
          </a:p>
          <a:p>
            <a:pPr>
              <a:spcAft>
                <a:spcPts val="1000"/>
              </a:spcAft>
              <a:defRPr sz="1600">
                <a:solidFill>
                  <a:srgbClr val="2D3A4A"/>
                </a:solidFill>
                <a:latin typeface="Aptos"/>
              </a:defRPr>
            </a:pPr>
            <a:r>
              <a:t>•  Linear classifier maps embeddings to four group logits</a:t>
            </a:r>
          </a:p>
          <a:p>
            <a:pPr>
              <a:spcAft>
                <a:spcPts val="1000"/>
              </a:spcAft>
              <a:defRPr sz="1600">
                <a:solidFill>
                  <a:srgbClr val="2D3A4A"/>
                </a:solidFill>
                <a:latin typeface="Aptos"/>
              </a:defRPr>
            </a:pPr>
            <a:r>
              <a:t>•  Softmax probabilities directly determine predicted group labels</a:t>
            </a:r>
          </a:p>
        </p:txBody>
      </p:sp>
      <p:sp>
        <p:nvSpPr>
          <p:cNvPr id="7" name="Rounded Rectangle 6"/>
          <p:cNvSpPr/>
          <p:nvPr/>
        </p:nvSpPr>
        <p:spPr>
          <a:xfrm>
            <a:off x="6583680" y="1645920"/>
            <a:ext cx="4297680" cy="411480"/>
          </a:xfrm>
          <a:prstGeom prst="roundRect">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93408" y="1719072"/>
            <a:ext cx="4078224" cy="228600"/>
          </a:xfrm>
          <a:prstGeom prst="rect">
            <a:avLst/>
          </a:prstGeom>
          <a:noFill/>
        </p:spPr>
        <p:txBody>
          <a:bodyPr wrap="square" lIns="45720" tIns="18288" rIns="45720" bIns="18288">
            <a:spAutoFit/>
          </a:bodyPr>
          <a:lstStyle/>
          <a:p>
            <a:pPr algn="ctr">
              <a:defRPr sz="1200" b="1">
                <a:solidFill>
                  <a:srgbClr val="FFFFFF"/>
                </a:solidFill>
                <a:latin typeface="Aptos"/>
              </a:defRPr>
            </a:pPr>
            <a:r>
              <a:t>8 features</a:t>
            </a:r>
          </a:p>
        </p:txBody>
      </p:sp>
      <p:sp>
        <p:nvSpPr>
          <p:cNvPr id="9" name="Rounded Rectangle 8"/>
          <p:cNvSpPr/>
          <p:nvPr/>
        </p:nvSpPr>
        <p:spPr>
          <a:xfrm>
            <a:off x="6583680" y="2267712"/>
            <a:ext cx="4297680" cy="411480"/>
          </a:xfrm>
          <a:prstGeom prst="round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93408" y="2340864"/>
            <a:ext cx="4078224" cy="228600"/>
          </a:xfrm>
          <a:prstGeom prst="rect">
            <a:avLst/>
          </a:prstGeom>
          <a:noFill/>
        </p:spPr>
        <p:txBody>
          <a:bodyPr wrap="square" lIns="45720" tIns="18288" rIns="45720" bIns="18288">
            <a:spAutoFit/>
          </a:bodyPr>
          <a:lstStyle/>
          <a:p>
            <a:pPr algn="ctr">
              <a:defRPr sz="1200" b="1">
                <a:solidFill>
                  <a:srgbClr val="FFFFFF"/>
                </a:solidFill>
                <a:latin typeface="Aptos"/>
              </a:defRPr>
            </a:pPr>
            <a:r>
              <a:t>MP layer 1</a:t>
            </a:r>
          </a:p>
        </p:txBody>
      </p:sp>
      <p:sp>
        <p:nvSpPr>
          <p:cNvPr id="11" name="Rounded Rectangle 10"/>
          <p:cNvSpPr/>
          <p:nvPr/>
        </p:nvSpPr>
        <p:spPr>
          <a:xfrm>
            <a:off x="6583680" y="2889504"/>
            <a:ext cx="4297680" cy="411480"/>
          </a:xfrm>
          <a:prstGeom prst="roundRect">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93408" y="2962656"/>
            <a:ext cx="4078224" cy="228600"/>
          </a:xfrm>
          <a:prstGeom prst="rect">
            <a:avLst/>
          </a:prstGeom>
          <a:noFill/>
        </p:spPr>
        <p:txBody>
          <a:bodyPr wrap="square" lIns="45720" tIns="18288" rIns="45720" bIns="18288">
            <a:spAutoFit/>
          </a:bodyPr>
          <a:lstStyle/>
          <a:p>
            <a:pPr algn="ctr">
              <a:defRPr sz="1200" b="1">
                <a:solidFill>
                  <a:srgbClr val="FFFFFF"/>
                </a:solidFill>
                <a:latin typeface="Aptos"/>
              </a:defRPr>
            </a:pPr>
            <a:r>
              <a:t>MP layer 2</a:t>
            </a:r>
          </a:p>
        </p:txBody>
      </p:sp>
      <p:sp>
        <p:nvSpPr>
          <p:cNvPr id="13" name="Rounded Rectangle 12"/>
          <p:cNvSpPr/>
          <p:nvPr/>
        </p:nvSpPr>
        <p:spPr>
          <a:xfrm>
            <a:off x="6583680" y="3511296"/>
            <a:ext cx="4297680" cy="411480"/>
          </a:xfrm>
          <a:prstGeom prst="roundRect">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93408" y="3584448"/>
            <a:ext cx="4078224" cy="228600"/>
          </a:xfrm>
          <a:prstGeom prst="rect">
            <a:avLst/>
          </a:prstGeom>
          <a:noFill/>
        </p:spPr>
        <p:txBody>
          <a:bodyPr wrap="square" lIns="45720" tIns="18288" rIns="45720" bIns="18288">
            <a:spAutoFit/>
          </a:bodyPr>
          <a:lstStyle/>
          <a:p>
            <a:pPr algn="ctr">
              <a:defRPr sz="1200" b="1">
                <a:solidFill>
                  <a:srgbClr val="FFFFFF"/>
                </a:solidFill>
                <a:latin typeface="Aptos"/>
              </a:defRPr>
            </a:pPr>
            <a:r>
              <a:t>MP layer 3</a:t>
            </a:r>
          </a:p>
        </p:txBody>
      </p:sp>
      <p:sp>
        <p:nvSpPr>
          <p:cNvPr id="15" name="Rounded Rectangle 14"/>
          <p:cNvSpPr/>
          <p:nvPr/>
        </p:nvSpPr>
        <p:spPr>
          <a:xfrm>
            <a:off x="6583680" y="4133088"/>
            <a:ext cx="4297680" cy="411480"/>
          </a:xfrm>
          <a:prstGeom prst="roundRect">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93408" y="4206240"/>
            <a:ext cx="4078224" cy="228600"/>
          </a:xfrm>
          <a:prstGeom prst="rect">
            <a:avLst/>
          </a:prstGeom>
          <a:noFill/>
        </p:spPr>
        <p:txBody>
          <a:bodyPr wrap="square" lIns="45720" tIns="18288" rIns="45720" bIns="18288">
            <a:spAutoFit/>
          </a:bodyPr>
          <a:lstStyle/>
          <a:p>
            <a:pPr algn="ctr">
              <a:defRPr sz="1200" b="1">
                <a:solidFill>
                  <a:srgbClr val="FFFFFF"/>
                </a:solidFill>
                <a:latin typeface="Aptos"/>
              </a:defRPr>
            </a:pPr>
            <a:r>
              <a:t>Linear: 4</a:t>
            </a:r>
          </a:p>
        </p:txBody>
      </p:sp>
      <p:sp>
        <p:nvSpPr>
          <p:cNvPr id="17" name="Rounded Rectangle 16"/>
          <p:cNvSpPr/>
          <p:nvPr/>
        </p:nvSpPr>
        <p:spPr>
          <a:xfrm>
            <a:off x="6583680" y="4754880"/>
            <a:ext cx="4297680" cy="411480"/>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93408" y="4828032"/>
            <a:ext cx="4078224" cy="228600"/>
          </a:xfrm>
          <a:prstGeom prst="rect">
            <a:avLst/>
          </a:prstGeom>
          <a:noFill/>
        </p:spPr>
        <p:txBody>
          <a:bodyPr wrap="square" lIns="45720" tIns="18288" rIns="45720" bIns="18288">
            <a:spAutoFit/>
          </a:bodyPr>
          <a:lstStyle/>
          <a:p>
            <a:pPr algn="ctr">
              <a:defRPr sz="1200" b="1">
                <a:solidFill>
                  <a:srgbClr val="FFFFFF"/>
                </a:solidFill>
                <a:latin typeface="Aptos"/>
              </a:defRPr>
            </a:pPr>
            <a:r>
              <a:t>Softmax</a:t>
            </a:r>
          </a:p>
        </p:txBody>
      </p:sp>
      <p:sp>
        <p:nvSpPr>
          <p:cNvPr id="19" name="Rounded Rectangle 18"/>
          <p:cNvSpPr/>
          <p:nvPr/>
        </p:nvSpPr>
        <p:spPr>
          <a:xfrm>
            <a:off x="6492240" y="5486400"/>
            <a:ext cx="4572000" cy="640080"/>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38544" y="5577840"/>
            <a:ext cx="4279392" cy="475488"/>
          </a:xfrm>
          <a:prstGeom prst="rect">
            <a:avLst/>
          </a:prstGeom>
          <a:noFill/>
        </p:spPr>
        <p:txBody>
          <a:bodyPr wrap="square" lIns="45720" tIns="18288" rIns="45720" bIns="18288">
            <a:spAutoFit/>
          </a:bodyPr>
          <a:lstStyle/>
          <a:p>
            <a:pPr>
              <a:defRPr sz="1300" b="1">
                <a:solidFill>
                  <a:srgbClr val="FFFFFF"/>
                </a:solidFill>
                <a:latin typeface="Cambria Math"/>
              </a:defRPr>
            </a:pPr>
            <a:r>
              <a:t>hᵢ⁽ˡ⁺¹⁾ = σ(W⁽ˡ⁾ · CONCAT(hᵢ⁽ˡ⁾, MEAN_{j∈N(i)} hⱼ⁽ˡ⁾))</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True Semi-Supervised Learning Framework</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10 / 18</a:t>
            </a:r>
          </a:p>
        </p:txBody>
      </p:sp>
      <p:sp>
        <p:nvSpPr>
          <p:cNvPr id="6" name="TextBox 5"/>
          <p:cNvSpPr txBox="1"/>
          <p:nvPr/>
        </p:nvSpPr>
        <p:spPr>
          <a:xfrm>
            <a:off x="658368" y="1325880"/>
            <a:ext cx="5852160" cy="4251960"/>
          </a:xfrm>
          <a:prstGeom prst="rect">
            <a:avLst/>
          </a:prstGeom>
          <a:noFill/>
        </p:spPr>
        <p:txBody>
          <a:bodyPr wrap="square" lIns="73152" rIns="54864">
            <a:spAutoFit/>
          </a:bodyPr>
          <a:lstStyle/>
          <a:p>
            <a:pPr>
              <a:spcAft>
                <a:spcPts val="1000"/>
              </a:spcAft>
              <a:defRPr sz="1600">
                <a:solidFill>
                  <a:srgbClr val="2D3A4A"/>
                </a:solidFill>
                <a:latin typeface="Aptos"/>
              </a:defRPr>
            </a:pPr>
            <a:r>
              <a:t>•  Supervised loss: masked cross-entropy over labeled nodes only; label −1 is ignored</a:t>
            </a:r>
          </a:p>
          <a:p>
            <a:pPr>
              <a:spcAft>
                <a:spcPts val="1000"/>
              </a:spcAft>
              <a:defRPr sz="1600">
                <a:solidFill>
                  <a:srgbClr val="2D3A4A"/>
                </a:solidFill>
                <a:latin typeface="Aptos"/>
              </a:defRPr>
            </a:pPr>
            <a:r>
              <a:t>•  Consistency loss: stable predictions across perturbed graph views</a:t>
            </a:r>
          </a:p>
          <a:p>
            <a:pPr>
              <a:spcAft>
                <a:spcPts val="1000"/>
              </a:spcAft>
              <a:defRPr sz="1600">
                <a:solidFill>
                  <a:srgbClr val="2D3A4A"/>
                </a:solidFill>
                <a:latin typeface="Aptos"/>
              </a:defRPr>
            </a:pPr>
            <a:r>
              <a:t>•  Pseudo-label loss: accepted unlabeled nodes become temporary training targets</a:t>
            </a:r>
          </a:p>
          <a:p>
            <a:pPr>
              <a:spcAft>
                <a:spcPts val="1000"/>
              </a:spcAft>
              <a:defRPr sz="1600">
                <a:solidFill>
                  <a:srgbClr val="2D3A4A"/>
                </a:solidFill>
                <a:latin typeface="Aptos"/>
              </a:defRPr>
            </a:pPr>
            <a:r>
              <a:t>•  λ and μ balance auxiliary losses and should be selected on validation data</a:t>
            </a:r>
          </a:p>
          <a:p>
            <a:pPr>
              <a:spcAft>
                <a:spcPts val="1000"/>
              </a:spcAft>
              <a:defRPr sz="1600">
                <a:solidFill>
                  <a:srgbClr val="2D3A4A"/>
                </a:solidFill>
                <a:latin typeface="Aptos"/>
              </a:defRPr>
            </a:pPr>
            <a:r>
              <a:t>•  Log each loss component and pseudo-label coverage to diagnose training behavior</a:t>
            </a:r>
          </a:p>
        </p:txBody>
      </p:sp>
      <p:sp>
        <p:nvSpPr>
          <p:cNvPr id="7" name="Rounded Rectangle 6"/>
          <p:cNvSpPr/>
          <p:nvPr/>
        </p:nvSpPr>
        <p:spPr>
          <a:xfrm>
            <a:off x="6629400" y="1965960"/>
            <a:ext cx="1417320" cy="960120"/>
          </a:xfrm>
          <a:prstGeom prst="roundRect">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84264" y="2157984"/>
            <a:ext cx="1307592" cy="228600"/>
          </a:xfrm>
          <a:prstGeom prst="rect">
            <a:avLst/>
          </a:prstGeom>
          <a:noFill/>
        </p:spPr>
        <p:txBody>
          <a:bodyPr wrap="square" lIns="45720" tIns="18288" rIns="45720" bIns="18288">
            <a:spAutoFit/>
          </a:bodyPr>
          <a:lstStyle/>
          <a:p>
            <a:pPr algn="ctr">
              <a:defRPr sz="1300" b="1">
                <a:solidFill>
                  <a:srgbClr val="FFFFFF"/>
                </a:solidFill>
                <a:latin typeface="Aptos"/>
              </a:defRPr>
            </a:pPr>
            <a:r>
              <a:t>L_sup</a:t>
            </a:r>
          </a:p>
        </p:txBody>
      </p:sp>
      <p:sp>
        <p:nvSpPr>
          <p:cNvPr id="9" name="TextBox 8"/>
          <p:cNvSpPr txBox="1"/>
          <p:nvPr/>
        </p:nvSpPr>
        <p:spPr>
          <a:xfrm>
            <a:off x="6684264" y="2450592"/>
            <a:ext cx="1307592" cy="292608"/>
          </a:xfrm>
          <a:prstGeom prst="rect">
            <a:avLst/>
          </a:prstGeom>
          <a:noFill/>
        </p:spPr>
        <p:txBody>
          <a:bodyPr wrap="square" lIns="45720" tIns="18288" rIns="45720" bIns="18288">
            <a:spAutoFit/>
          </a:bodyPr>
          <a:lstStyle/>
          <a:p>
            <a:pPr algn="ctr">
              <a:defRPr sz="800" b="0">
                <a:solidFill>
                  <a:srgbClr val="FFFFFF"/>
                </a:solidFill>
                <a:latin typeface="Aptos"/>
              </a:defRPr>
            </a:pPr>
            <a:r>
              <a:t>Masked CE</a:t>
            </a:r>
          </a:p>
        </p:txBody>
      </p:sp>
      <p:cxnSp>
        <p:nvCxnSpPr>
          <p:cNvPr id="10" name="Connector 9"/>
          <p:cNvCxnSpPr/>
          <p:nvPr/>
        </p:nvCxnSpPr>
        <p:spPr>
          <a:xfrm>
            <a:off x="7342631" y="2926080"/>
            <a:ext cx="1527049" cy="777240"/>
          </a:xfrm>
          <a:prstGeom prst="line">
            <a:avLst/>
          </a:prstGeom>
          <a:ln w="12700">
            <a:solidFill>
              <a:srgbClr val="667584"/>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57031" y="1965960"/>
            <a:ext cx="1417320" cy="960120"/>
          </a:xfrm>
          <a:prstGeom prst="round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11896" y="2157984"/>
            <a:ext cx="1307592" cy="228600"/>
          </a:xfrm>
          <a:prstGeom prst="rect">
            <a:avLst/>
          </a:prstGeom>
          <a:noFill/>
        </p:spPr>
        <p:txBody>
          <a:bodyPr wrap="square" lIns="45720" tIns="18288" rIns="45720" bIns="18288">
            <a:spAutoFit/>
          </a:bodyPr>
          <a:lstStyle/>
          <a:p>
            <a:pPr algn="ctr">
              <a:defRPr sz="1300" b="1">
                <a:solidFill>
                  <a:srgbClr val="FFFFFF"/>
                </a:solidFill>
                <a:latin typeface="Aptos"/>
              </a:defRPr>
            </a:pPr>
            <a:r>
              <a:t>L_cons</a:t>
            </a:r>
          </a:p>
        </p:txBody>
      </p:sp>
      <p:sp>
        <p:nvSpPr>
          <p:cNvPr id="13" name="TextBox 12"/>
          <p:cNvSpPr txBox="1"/>
          <p:nvPr/>
        </p:nvSpPr>
        <p:spPr>
          <a:xfrm>
            <a:off x="8311896" y="2450592"/>
            <a:ext cx="1307592" cy="292608"/>
          </a:xfrm>
          <a:prstGeom prst="rect">
            <a:avLst/>
          </a:prstGeom>
          <a:noFill/>
        </p:spPr>
        <p:txBody>
          <a:bodyPr wrap="square" lIns="45720" tIns="18288" rIns="45720" bIns="18288">
            <a:spAutoFit/>
          </a:bodyPr>
          <a:lstStyle/>
          <a:p>
            <a:pPr algn="ctr">
              <a:defRPr sz="800" b="0">
                <a:solidFill>
                  <a:srgbClr val="FFFFFF"/>
                </a:solidFill>
                <a:latin typeface="Aptos"/>
              </a:defRPr>
            </a:pPr>
            <a:r>
              <a:t>Dual-view consistency</a:t>
            </a:r>
          </a:p>
        </p:txBody>
      </p:sp>
      <p:cxnSp>
        <p:nvCxnSpPr>
          <p:cNvPr id="14" name="Connector 13"/>
          <p:cNvCxnSpPr/>
          <p:nvPr/>
        </p:nvCxnSpPr>
        <p:spPr>
          <a:xfrm flipH="1">
            <a:off x="8869680" y="2926080"/>
            <a:ext cx="100583" cy="777240"/>
          </a:xfrm>
          <a:prstGeom prst="line">
            <a:avLst/>
          </a:prstGeom>
          <a:ln w="12700">
            <a:solidFill>
              <a:srgbClr val="66758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884664" y="1965960"/>
            <a:ext cx="1417320" cy="960120"/>
          </a:xfrm>
          <a:prstGeom prst="roundRect">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939528" y="2157984"/>
            <a:ext cx="1307592" cy="228600"/>
          </a:xfrm>
          <a:prstGeom prst="rect">
            <a:avLst/>
          </a:prstGeom>
          <a:noFill/>
        </p:spPr>
        <p:txBody>
          <a:bodyPr wrap="square" lIns="45720" tIns="18288" rIns="45720" bIns="18288">
            <a:spAutoFit/>
          </a:bodyPr>
          <a:lstStyle/>
          <a:p>
            <a:pPr algn="ctr">
              <a:defRPr sz="1300" b="1">
                <a:solidFill>
                  <a:srgbClr val="FFFFFF"/>
                </a:solidFill>
                <a:latin typeface="Aptos"/>
              </a:defRPr>
            </a:pPr>
            <a:r>
              <a:t>L_pseudo</a:t>
            </a:r>
          </a:p>
        </p:txBody>
      </p:sp>
      <p:sp>
        <p:nvSpPr>
          <p:cNvPr id="17" name="TextBox 16"/>
          <p:cNvSpPr txBox="1"/>
          <p:nvPr/>
        </p:nvSpPr>
        <p:spPr>
          <a:xfrm>
            <a:off x="9939528" y="2450592"/>
            <a:ext cx="1307592" cy="292608"/>
          </a:xfrm>
          <a:prstGeom prst="rect">
            <a:avLst/>
          </a:prstGeom>
          <a:noFill/>
        </p:spPr>
        <p:txBody>
          <a:bodyPr wrap="square" lIns="45720" tIns="18288" rIns="45720" bIns="18288">
            <a:spAutoFit/>
          </a:bodyPr>
          <a:lstStyle/>
          <a:p>
            <a:pPr algn="ctr">
              <a:defRPr sz="800" b="0">
                <a:solidFill>
                  <a:srgbClr val="FFFFFF"/>
                </a:solidFill>
                <a:latin typeface="Aptos"/>
              </a:defRPr>
            </a:pPr>
            <a:r>
              <a:t>Gated pseudo-labels</a:t>
            </a:r>
          </a:p>
        </p:txBody>
      </p:sp>
      <p:cxnSp>
        <p:nvCxnSpPr>
          <p:cNvPr id="18" name="Connector 17"/>
          <p:cNvCxnSpPr/>
          <p:nvPr/>
        </p:nvCxnSpPr>
        <p:spPr>
          <a:xfrm flipH="1">
            <a:off x="8869680" y="2926080"/>
            <a:ext cx="1728216" cy="777240"/>
          </a:xfrm>
          <a:prstGeom prst="line">
            <a:avLst/>
          </a:prstGeom>
          <a:ln w="12700">
            <a:solidFill>
              <a:srgbClr val="667584"/>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406640" y="3749039"/>
            <a:ext cx="2926080" cy="658368"/>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16368" y="3922776"/>
            <a:ext cx="2697480" cy="256032"/>
          </a:xfrm>
          <a:prstGeom prst="rect">
            <a:avLst/>
          </a:prstGeom>
          <a:noFill/>
        </p:spPr>
        <p:txBody>
          <a:bodyPr wrap="square" lIns="45720" tIns="18288" rIns="45720" bIns="18288">
            <a:spAutoFit/>
          </a:bodyPr>
          <a:lstStyle/>
          <a:p>
            <a:pPr algn="ctr">
              <a:defRPr sz="1400" b="1">
                <a:solidFill>
                  <a:srgbClr val="FFFFFF"/>
                </a:solidFill>
                <a:latin typeface="Aptos"/>
              </a:defRPr>
            </a:pPr>
            <a:r>
              <a:t>Combined objective</a:t>
            </a:r>
          </a:p>
        </p:txBody>
      </p:sp>
      <p:sp>
        <p:nvSpPr>
          <p:cNvPr id="21" name="Rounded Rectangle 20"/>
          <p:cNvSpPr/>
          <p:nvPr/>
        </p:nvSpPr>
        <p:spPr>
          <a:xfrm>
            <a:off x="6629400" y="4800600"/>
            <a:ext cx="4572000" cy="713232"/>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75704" y="4892040"/>
            <a:ext cx="4279392" cy="548640"/>
          </a:xfrm>
          <a:prstGeom prst="rect">
            <a:avLst/>
          </a:prstGeom>
          <a:noFill/>
        </p:spPr>
        <p:txBody>
          <a:bodyPr wrap="square" lIns="45720" tIns="18288" rIns="45720" bIns="18288">
            <a:spAutoFit/>
          </a:bodyPr>
          <a:lstStyle/>
          <a:p>
            <a:pPr>
              <a:defRPr sz="1300" b="1">
                <a:solidFill>
                  <a:srgbClr val="FFFFFF"/>
                </a:solidFill>
                <a:latin typeface="Cambria Math"/>
              </a:defRPr>
            </a:pPr>
            <a:r>
              <a:t>L_total = L_supervised + λ L_consistency + μ L_pseudo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Dual-Perturbation Consistency &amp; Uncertainty-Aware Pseudo-Labeling</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11 / 18</a:t>
            </a:r>
          </a:p>
        </p:txBody>
      </p:sp>
      <p:sp>
        <p:nvSpPr>
          <p:cNvPr id="6" name="TextBox 5"/>
          <p:cNvSpPr txBox="1"/>
          <p:nvPr/>
        </p:nvSpPr>
        <p:spPr>
          <a:xfrm>
            <a:off x="658368" y="1325880"/>
            <a:ext cx="5715000" cy="4251960"/>
          </a:xfrm>
          <a:prstGeom prst="rect">
            <a:avLst/>
          </a:prstGeom>
          <a:noFill/>
        </p:spPr>
        <p:txBody>
          <a:bodyPr wrap="square" lIns="73152" rIns="54864">
            <a:spAutoFit/>
          </a:bodyPr>
          <a:lstStyle/>
          <a:p>
            <a:pPr>
              <a:spcAft>
                <a:spcPts val="1000"/>
              </a:spcAft>
              <a:defRPr sz="1400">
                <a:solidFill>
                  <a:srgbClr val="2D3A4A"/>
                </a:solidFill>
                <a:latin typeface="Aptos"/>
              </a:defRPr>
            </a:pPr>
            <a:r>
              <a:t>•  Create views G_A and G_B using 15% edge dropping and 10% feature masking</a:t>
            </a:r>
          </a:p>
          <a:p>
            <a:pPr>
              <a:spcAft>
                <a:spcPts val="1000"/>
              </a:spcAft>
              <a:defRPr sz="1400">
                <a:solidFill>
                  <a:srgbClr val="2D3A4A"/>
                </a:solidFill>
                <a:latin typeface="Aptos"/>
              </a:defRPr>
            </a:pPr>
            <a:r>
              <a:t>•  Penalize prediction disagreement with symmetric KL divergence</a:t>
            </a:r>
          </a:p>
          <a:p>
            <a:pPr>
              <a:spcAft>
                <a:spcPts val="1000"/>
              </a:spcAft>
              <a:defRPr sz="1400">
                <a:solidFill>
                  <a:srgbClr val="2D3A4A"/>
                </a:solidFill>
                <a:latin typeface="Aptos"/>
              </a:defRPr>
            </a:pPr>
            <a:r>
              <a:t>•  Candidate pseudo-label: ĉᵢ = argmax_c pᵢ,c; confidence sᵢ = max_c pᵢ,c</a:t>
            </a:r>
          </a:p>
          <a:p>
            <a:pPr>
              <a:spcAft>
                <a:spcPts val="1000"/>
              </a:spcAft>
              <a:defRPr sz="1400">
                <a:solidFill>
                  <a:srgbClr val="2D3A4A"/>
                </a:solidFill>
                <a:latin typeface="Aptos"/>
              </a:defRPr>
            </a:pPr>
            <a:r>
              <a:t>•  Accept only when sᵢ ≥ 0.90 AND CSI uncertainty uᵢ ≤ τᵤ</a:t>
            </a:r>
          </a:p>
          <a:p>
            <a:pPr>
              <a:spcAft>
                <a:spcPts val="1000"/>
              </a:spcAft>
              <a:defRPr sz="1400">
                <a:solidFill>
                  <a:srgbClr val="2D3A4A"/>
                </a:solidFill>
                <a:latin typeface="Aptos"/>
              </a:defRPr>
            </a:pPr>
            <a:r>
              <a:t>•  Handle empty accepted sets safely; report acceptance rate and accuracy</a:t>
            </a:r>
          </a:p>
        </p:txBody>
      </p:sp>
      <p:sp>
        <p:nvSpPr>
          <p:cNvPr id="7" name="Rounded Rectangle 6"/>
          <p:cNvSpPr/>
          <p:nvPr/>
        </p:nvSpPr>
        <p:spPr>
          <a:xfrm>
            <a:off x="7315200" y="1554480"/>
            <a:ext cx="1234440" cy="594360"/>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88352" y="1719072"/>
            <a:ext cx="1078992" cy="228600"/>
          </a:xfrm>
          <a:prstGeom prst="rect">
            <a:avLst/>
          </a:prstGeom>
          <a:noFill/>
        </p:spPr>
        <p:txBody>
          <a:bodyPr wrap="square" lIns="45720" tIns="18288" rIns="45720" bIns="18288">
            <a:spAutoFit/>
          </a:bodyPr>
          <a:lstStyle/>
          <a:p>
            <a:pPr algn="ctr">
              <a:defRPr sz="1300" b="1">
                <a:solidFill>
                  <a:srgbClr val="FFFFFF"/>
                </a:solidFill>
                <a:latin typeface="Aptos"/>
              </a:defRPr>
            </a:pPr>
            <a:r>
              <a:t>Graph G</a:t>
            </a:r>
          </a:p>
        </p:txBody>
      </p:sp>
      <p:cxnSp>
        <p:nvCxnSpPr>
          <p:cNvPr id="9" name="Connector 8"/>
          <p:cNvCxnSpPr/>
          <p:nvPr/>
        </p:nvCxnSpPr>
        <p:spPr>
          <a:xfrm>
            <a:off x="8549640" y="1828800"/>
            <a:ext cx="457200" cy="0"/>
          </a:xfrm>
          <a:prstGeom prst="line">
            <a:avLst/>
          </a:prstGeom>
          <a:ln w="25400">
            <a:solidFill>
              <a:srgbClr val="00B0B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9006840" y="1508760"/>
            <a:ext cx="0" cy="320040"/>
          </a:xfrm>
          <a:prstGeom prst="line">
            <a:avLst/>
          </a:prstGeom>
          <a:ln w="25400">
            <a:solidFill>
              <a:srgbClr val="00B0B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06840" y="1828800"/>
            <a:ext cx="0" cy="594360"/>
          </a:xfrm>
          <a:prstGeom prst="line">
            <a:avLst/>
          </a:prstGeom>
          <a:ln w="25400">
            <a:solidFill>
              <a:srgbClr val="00B0B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098280" y="1234440"/>
            <a:ext cx="960120" cy="475488"/>
          </a:xfrm>
          <a:prstGeom prst="roundRect">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62288" y="1353312"/>
            <a:ext cx="832104" cy="182880"/>
          </a:xfrm>
          <a:prstGeom prst="rect">
            <a:avLst/>
          </a:prstGeom>
          <a:noFill/>
        </p:spPr>
        <p:txBody>
          <a:bodyPr wrap="square" lIns="45720" tIns="18288" rIns="45720" bIns="18288">
            <a:spAutoFit/>
          </a:bodyPr>
          <a:lstStyle/>
          <a:p>
            <a:pPr algn="ctr">
              <a:defRPr sz="1200" b="1">
                <a:solidFill>
                  <a:srgbClr val="FFFFFF"/>
                </a:solidFill>
                <a:latin typeface="Aptos"/>
              </a:defRPr>
            </a:pPr>
            <a:r>
              <a:t>G_A</a:t>
            </a:r>
          </a:p>
        </p:txBody>
      </p:sp>
      <p:sp>
        <p:nvSpPr>
          <p:cNvPr id="14" name="Rounded Rectangle 13"/>
          <p:cNvSpPr/>
          <p:nvPr/>
        </p:nvSpPr>
        <p:spPr>
          <a:xfrm>
            <a:off x="9098280" y="2148840"/>
            <a:ext cx="960120" cy="475488"/>
          </a:xfrm>
          <a:prstGeom prst="roundRect">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62288" y="2267712"/>
            <a:ext cx="832104" cy="182880"/>
          </a:xfrm>
          <a:prstGeom prst="rect">
            <a:avLst/>
          </a:prstGeom>
          <a:noFill/>
        </p:spPr>
        <p:txBody>
          <a:bodyPr wrap="square" lIns="45720" tIns="18288" rIns="45720" bIns="18288">
            <a:spAutoFit/>
          </a:bodyPr>
          <a:lstStyle/>
          <a:p>
            <a:pPr algn="ctr">
              <a:defRPr sz="1200" b="1">
                <a:solidFill>
                  <a:srgbClr val="FFFFFF"/>
                </a:solidFill>
                <a:latin typeface="Aptos"/>
              </a:defRPr>
            </a:pPr>
            <a:r>
              <a:t>G_B</a:t>
            </a:r>
          </a:p>
        </p:txBody>
      </p:sp>
      <p:cxnSp>
        <p:nvCxnSpPr>
          <p:cNvPr id="16" name="Connector 15"/>
          <p:cNvCxnSpPr/>
          <p:nvPr/>
        </p:nvCxnSpPr>
        <p:spPr>
          <a:xfrm>
            <a:off x="10058400" y="1481328"/>
            <a:ext cx="457200" cy="347472"/>
          </a:xfrm>
          <a:prstGeom prst="line">
            <a:avLst/>
          </a:prstGeom>
          <a:ln w="19050">
            <a:solidFill>
              <a:srgbClr val="66758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0058400" y="1828800"/>
            <a:ext cx="457200" cy="566928"/>
          </a:xfrm>
          <a:prstGeom prst="line">
            <a:avLst/>
          </a:prstGeom>
          <a:ln w="19050">
            <a:solidFill>
              <a:srgbClr val="66758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0515600" y="1554480"/>
            <a:ext cx="914400" cy="594360"/>
          </a:xfrm>
          <a:prstGeom prst="roundRect">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70464" y="1719072"/>
            <a:ext cx="804672" cy="228600"/>
          </a:xfrm>
          <a:prstGeom prst="rect">
            <a:avLst/>
          </a:prstGeom>
          <a:noFill/>
        </p:spPr>
        <p:txBody>
          <a:bodyPr wrap="square" lIns="45720" tIns="18288" rIns="45720" bIns="18288">
            <a:spAutoFit/>
          </a:bodyPr>
          <a:lstStyle/>
          <a:p>
            <a:pPr algn="ctr">
              <a:defRPr sz="1200" b="1">
                <a:solidFill>
                  <a:srgbClr val="0E1D34"/>
                </a:solidFill>
                <a:latin typeface="Aptos"/>
              </a:defRPr>
            </a:pPr>
            <a:r>
              <a:t>KL</a:t>
            </a:r>
          </a:p>
        </p:txBody>
      </p:sp>
      <p:sp>
        <p:nvSpPr>
          <p:cNvPr id="20" name="Rounded Rectangle 19"/>
          <p:cNvSpPr/>
          <p:nvPr/>
        </p:nvSpPr>
        <p:spPr>
          <a:xfrm>
            <a:off x="7315200" y="3154680"/>
            <a:ext cx="4114800" cy="822960"/>
          </a:xfrm>
          <a:prstGeom prst="roundRect">
            <a:avLst/>
          </a:prstGeom>
          <a:solidFill>
            <a:srgbClr val="F2F6FA"/>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52360" y="3273552"/>
            <a:ext cx="3840480" cy="566928"/>
          </a:xfrm>
          <a:prstGeom prst="rect">
            <a:avLst/>
          </a:prstGeom>
          <a:noFill/>
        </p:spPr>
        <p:txBody>
          <a:bodyPr wrap="square" lIns="45720" tIns="18288" rIns="45720" bIns="18288">
            <a:spAutoFit/>
          </a:bodyPr>
          <a:lstStyle/>
          <a:p>
            <a:pPr algn="ctr">
              <a:defRPr sz="1200" b="1">
                <a:solidFill>
                  <a:srgbClr val="0E1D34"/>
                </a:solidFill>
                <a:latin typeface="Aptos"/>
              </a:defRPr>
            </a:pPr>
            <a:r>
              <a:t>Pseudo-label gate:</a:t>
            </a:r>
            <a:br/>
            <a:r>
              <a:t>confidence ≥ 0.90 AND uncertainty ≤ τᵤ</a:t>
            </a:r>
          </a:p>
        </p:txBody>
      </p:sp>
      <p:sp>
        <p:nvSpPr>
          <p:cNvPr id="22" name="Rounded Rectangle 21"/>
          <p:cNvSpPr/>
          <p:nvPr/>
        </p:nvSpPr>
        <p:spPr>
          <a:xfrm>
            <a:off x="7132320" y="4434840"/>
            <a:ext cx="4389120" cy="960120"/>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78624" y="4526279"/>
            <a:ext cx="4096511" cy="795528"/>
          </a:xfrm>
          <a:prstGeom prst="rect">
            <a:avLst/>
          </a:prstGeom>
          <a:noFill/>
        </p:spPr>
        <p:txBody>
          <a:bodyPr wrap="square" lIns="45720" tIns="18288" rIns="45720" bIns="18288">
            <a:spAutoFit/>
          </a:bodyPr>
          <a:lstStyle/>
          <a:p>
            <a:pPr>
              <a:defRPr sz="1300" b="1">
                <a:solidFill>
                  <a:srgbClr val="FFFFFF"/>
                </a:solidFill>
                <a:latin typeface="Cambria Math"/>
              </a:defRPr>
            </a:pPr>
            <a:r>
              <a:t>L_cons = ½[KL(P_A || P_B) + KL(P_B || P_A)]  |  mᵢ = 1[sᵢ≥0.90 ∧ uᵢ≤τᵤ]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Global Evaluation Metrics</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12 / 18</a:t>
            </a:r>
          </a:p>
        </p:txBody>
      </p:sp>
      <p:sp>
        <p:nvSpPr>
          <p:cNvPr id="6" name="TextBox 5"/>
          <p:cNvSpPr txBox="1"/>
          <p:nvPr/>
        </p:nvSpPr>
        <p:spPr>
          <a:xfrm>
            <a:off x="658368" y="1325880"/>
            <a:ext cx="5577840" cy="4251960"/>
          </a:xfrm>
          <a:prstGeom prst="rect">
            <a:avLst/>
          </a:prstGeom>
          <a:noFill/>
        </p:spPr>
        <p:txBody>
          <a:bodyPr wrap="square" lIns="73152" rIns="54864">
            <a:spAutoFit/>
          </a:bodyPr>
          <a:lstStyle/>
          <a:p>
            <a:pPr>
              <a:spcAft>
                <a:spcPts val="1000"/>
              </a:spcAft>
              <a:defRPr sz="1700">
                <a:solidFill>
                  <a:srgbClr val="2D3A4A"/>
                </a:solidFill>
                <a:latin typeface="Aptos"/>
              </a:defRPr>
            </a:pPr>
            <a:r>
              <a:t>•  Test accuracy: 75.60%</a:t>
            </a:r>
          </a:p>
          <a:p>
            <a:pPr>
              <a:spcAft>
                <a:spcPts val="1000"/>
              </a:spcAft>
              <a:defRPr sz="1700">
                <a:solidFill>
                  <a:srgbClr val="2D3A4A"/>
                </a:solidFill>
                <a:latin typeface="Aptos"/>
              </a:defRPr>
            </a:pPr>
            <a:r>
              <a:t>•  Macro precision: 75.71%</a:t>
            </a:r>
          </a:p>
          <a:p>
            <a:pPr>
              <a:spcAft>
                <a:spcPts val="1000"/>
              </a:spcAft>
              <a:defRPr sz="1700">
                <a:solidFill>
                  <a:srgbClr val="2D3A4A"/>
                </a:solidFill>
                <a:latin typeface="Aptos"/>
              </a:defRPr>
            </a:pPr>
            <a:r>
              <a:t>•  Macro recall: 75.60%</a:t>
            </a:r>
          </a:p>
          <a:p>
            <a:pPr>
              <a:spcAft>
                <a:spcPts val="1000"/>
              </a:spcAft>
              <a:defRPr sz="1700">
                <a:solidFill>
                  <a:srgbClr val="2D3A4A"/>
                </a:solidFill>
                <a:latin typeface="Aptos"/>
              </a:defRPr>
            </a:pPr>
            <a:r>
              <a:t>•  Macro-F1: 75.31%</a:t>
            </a:r>
          </a:p>
          <a:p>
            <a:pPr>
              <a:spcAft>
                <a:spcPts val="1000"/>
              </a:spcAft>
              <a:defRPr sz="1700">
                <a:solidFill>
                  <a:srgbClr val="2D3A4A"/>
                </a:solidFill>
                <a:latin typeface="Aptos"/>
              </a:defRPr>
            </a:pPr>
            <a:r>
              <a:t>•  These are grouping metrics; they do not directly measure throughput, SINR, or sum-rate</a:t>
            </a:r>
          </a:p>
        </p:txBody>
      </p:sp>
      <p:sp>
        <p:nvSpPr>
          <p:cNvPr id="7" name="TextBox 6"/>
          <p:cNvSpPr txBox="1"/>
          <p:nvPr/>
        </p:nvSpPr>
        <p:spPr>
          <a:xfrm>
            <a:off x="6537960" y="1600200"/>
            <a:ext cx="1234440" cy="274320"/>
          </a:xfrm>
          <a:prstGeom prst="rect">
            <a:avLst/>
          </a:prstGeom>
          <a:noFill/>
        </p:spPr>
        <p:txBody>
          <a:bodyPr wrap="square" lIns="45720" tIns="18288" rIns="45720" bIns="18288">
            <a:spAutoFit/>
          </a:bodyPr>
          <a:lstStyle/>
          <a:p>
            <a:pPr>
              <a:defRPr sz="1100" b="1">
                <a:solidFill>
                  <a:srgbClr val="2D3A4A"/>
                </a:solidFill>
                <a:latin typeface="Aptos"/>
              </a:defRPr>
            </a:pPr>
            <a:r>
              <a:t>Accuracy</a:t>
            </a:r>
          </a:p>
        </p:txBody>
      </p:sp>
      <p:sp>
        <p:nvSpPr>
          <p:cNvPr id="8" name="Rounded Rectangle 7"/>
          <p:cNvSpPr/>
          <p:nvPr/>
        </p:nvSpPr>
        <p:spPr>
          <a:xfrm>
            <a:off x="7818120" y="1600200"/>
            <a:ext cx="2743200" cy="274320"/>
          </a:xfrm>
          <a:prstGeom prst="roundRect">
            <a:avLst/>
          </a:prstGeom>
          <a:solidFill>
            <a:srgbClr val="D3DFEB"/>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818120" y="1600200"/>
            <a:ext cx="2073859" cy="274320"/>
          </a:xfrm>
          <a:prstGeom prst="round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52760" y="1572768"/>
            <a:ext cx="777240" cy="292608"/>
          </a:xfrm>
          <a:prstGeom prst="rect">
            <a:avLst/>
          </a:prstGeom>
          <a:noFill/>
        </p:spPr>
        <p:txBody>
          <a:bodyPr wrap="square" lIns="45720" tIns="18288" rIns="45720" bIns="18288">
            <a:spAutoFit/>
          </a:bodyPr>
          <a:lstStyle/>
          <a:p>
            <a:pPr>
              <a:defRPr sz="1100" b="1">
                <a:solidFill>
                  <a:srgbClr val="0E1D34"/>
                </a:solidFill>
                <a:latin typeface="Aptos"/>
              </a:defRPr>
            </a:pPr>
            <a:r>
              <a:t>75.60%</a:t>
            </a:r>
          </a:p>
        </p:txBody>
      </p:sp>
      <p:sp>
        <p:nvSpPr>
          <p:cNvPr id="11" name="TextBox 10"/>
          <p:cNvSpPr txBox="1"/>
          <p:nvPr/>
        </p:nvSpPr>
        <p:spPr>
          <a:xfrm>
            <a:off x="6537960" y="2404872"/>
            <a:ext cx="1234440" cy="274320"/>
          </a:xfrm>
          <a:prstGeom prst="rect">
            <a:avLst/>
          </a:prstGeom>
          <a:noFill/>
        </p:spPr>
        <p:txBody>
          <a:bodyPr wrap="square" lIns="45720" tIns="18288" rIns="45720" bIns="18288">
            <a:spAutoFit/>
          </a:bodyPr>
          <a:lstStyle/>
          <a:p>
            <a:pPr>
              <a:defRPr sz="1100" b="1">
                <a:solidFill>
                  <a:srgbClr val="2D3A4A"/>
                </a:solidFill>
                <a:latin typeface="Aptos"/>
              </a:defRPr>
            </a:pPr>
            <a:r>
              <a:t>Precision</a:t>
            </a:r>
          </a:p>
        </p:txBody>
      </p:sp>
      <p:sp>
        <p:nvSpPr>
          <p:cNvPr id="12" name="Rounded Rectangle 11"/>
          <p:cNvSpPr/>
          <p:nvPr/>
        </p:nvSpPr>
        <p:spPr>
          <a:xfrm>
            <a:off x="7818120" y="2404872"/>
            <a:ext cx="2743200" cy="274320"/>
          </a:xfrm>
          <a:prstGeom prst="roundRect">
            <a:avLst/>
          </a:prstGeom>
          <a:solidFill>
            <a:srgbClr val="D3DFEB"/>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818120" y="2404872"/>
            <a:ext cx="2076876" cy="274320"/>
          </a:xfrm>
          <a:prstGeom prst="roundRect">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52760" y="2377440"/>
            <a:ext cx="777240" cy="292608"/>
          </a:xfrm>
          <a:prstGeom prst="rect">
            <a:avLst/>
          </a:prstGeom>
          <a:noFill/>
        </p:spPr>
        <p:txBody>
          <a:bodyPr wrap="square" lIns="45720" tIns="18288" rIns="45720" bIns="18288">
            <a:spAutoFit/>
          </a:bodyPr>
          <a:lstStyle/>
          <a:p>
            <a:pPr>
              <a:defRPr sz="1100" b="1">
                <a:solidFill>
                  <a:srgbClr val="0E1D34"/>
                </a:solidFill>
                <a:latin typeface="Aptos"/>
              </a:defRPr>
            </a:pPr>
            <a:r>
              <a:t>75.71%</a:t>
            </a:r>
          </a:p>
        </p:txBody>
      </p:sp>
      <p:sp>
        <p:nvSpPr>
          <p:cNvPr id="15" name="TextBox 14"/>
          <p:cNvSpPr txBox="1"/>
          <p:nvPr/>
        </p:nvSpPr>
        <p:spPr>
          <a:xfrm>
            <a:off x="6537960" y="3209544"/>
            <a:ext cx="1234440" cy="274320"/>
          </a:xfrm>
          <a:prstGeom prst="rect">
            <a:avLst/>
          </a:prstGeom>
          <a:noFill/>
        </p:spPr>
        <p:txBody>
          <a:bodyPr wrap="square" lIns="45720" tIns="18288" rIns="45720" bIns="18288">
            <a:spAutoFit/>
          </a:bodyPr>
          <a:lstStyle/>
          <a:p>
            <a:pPr>
              <a:defRPr sz="1100" b="1">
                <a:solidFill>
                  <a:srgbClr val="2D3A4A"/>
                </a:solidFill>
                <a:latin typeface="Aptos"/>
              </a:defRPr>
            </a:pPr>
            <a:r>
              <a:t>Recall</a:t>
            </a:r>
          </a:p>
        </p:txBody>
      </p:sp>
      <p:sp>
        <p:nvSpPr>
          <p:cNvPr id="16" name="Rounded Rectangle 15"/>
          <p:cNvSpPr/>
          <p:nvPr/>
        </p:nvSpPr>
        <p:spPr>
          <a:xfrm>
            <a:off x="7818120" y="3209544"/>
            <a:ext cx="2743200" cy="274320"/>
          </a:xfrm>
          <a:prstGeom prst="roundRect">
            <a:avLst/>
          </a:prstGeom>
          <a:solidFill>
            <a:srgbClr val="D3DFEB"/>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818120" y="3209544"/>
            <a:ext cx="2073859" cy="274320"/>
          </a:xfrm>
          <a:prstGeom prst="roundRect">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652760" y="3182112"/>
            <a:ext cx="777240" cy="292608"/>
          </a:xfrm>
          <a:prstGeom prst="rect">
            <a:avLst/>
          </a:prstGeom>
          <a:noFill/>
        </p:spPr>
        <p:txBody>
          <a:bodyPr wrap="square" lIns="45720" tIns="18288" rIns="45720" bIns="18288">
            <a:spAutoFit/>
          </a:bodyPr>
          <a:lstStyle/>
          <a:p>
            <a:pPr>
              <a:defRPr sz="1100" b="1">
                <a:solidFill>
                  <a:srgbClr val="0E1D34"/>
                </a:solidFill>
                <a:latin typeface="Aptos"/>
              </a:defRPr>
            </a:pPr>
            <a:r>
              <a:t>75.60%</a:t>
            </a:r>
          </a:p>
        </p:txBody>
      </p:sp>
      <p:sp>
        <p:nvSpPr>
          <p:cNvPr id="19" name="TextBox 18"/>
          <p:cNvSpPr txBox="1"/>
          <p:nvPr/>
        </p:nvSpPr>
        <p:spPr>
          <a:xfrm>
            <a:off x="6537960" y="4014216"/>
            <a:ext cx="1234440" cy="274320"/>
          </a:xfrm>
          <a:prstGeom prst="rect">
            <a:avLst/>
          </a:prstGeom>
          <a:noFill/>
        </p:spPr>
        <p:txBody>
          <a:bodyPr wrap="square" lIns="45720" tIns="18288" rIns="45720" bIns="18288">
            <a:spAutoFit/>
          </a:bodyPr>
          <a:lstStyle/>
          <a:p>
            <a:pPr>
              <a:defRPr sz="1100" b="1">
                <a:solidFill>
                  <a:srgbClr val="2D3A4A"/>
                </a:solidFill>
                <a:latin typeface="Aptos"/>
              </a:defRPr>
            </a:pPr>
            <a:r>
              <a:t>Macro-F1</a:t>
            </a:r>
          </a:p>
        </p:txBody>
      </p:sp>
      <p:sp>
        <p:nvSpPr>
          <p:cNvPr id="20" name="Rounded Rectangle 19"/>
          <p:cNvSpPr/>
          <p:nvPr/>
        </p:nvSpPr>
        <p:spPr>
          <a:xfrm>
            <a:off x="7818120" y="4014216"/>
            <a:ext cx="2743200" cy="274320"/>
          </a:xfrm>
          <a:prstGeom prst="roundRect">
            <a:avLst/>
          </a:prstGeom>
          <a:solidFill>
            <a:srgbClr val="D3DFEB"/>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818120" y="4014216"/>
            <a:ext cx="2065903" cy="274320"/>
          </a:xfrm>
          <a:prstGeom prst="roundRect">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652760" y="3986784"/>
            <a:ext cx="777240" cy="292608"/>
          </a:xfrm>
          <a:prstGeom prst="rect">
            <a:avLst/>
          </a:prstGeom>
          <a:noFill/>
        </p:spPr>
        <p:txBody>
          <a:bodyPr wrap="square" lIns="45720" tIns="18288" rIns="45720" bIns="18288">
            <a:spAutoFit/>
          </a:bodyPr>
          <a:lstStyle/>
          <a:p>
            <a:pPr>
              <a:defRPr sz="1100" b="1">
                <a:solidFill>
                  <a:srgbClr val="0E1D34"/>
                </a:solidFill>
                <a:latin typeface="Aptos"/>
              </a:defRPr>
            </a:pPr>
            <a:r>
              <a:t>75.31%</a:t>
            </a:r>
          </a:p>
        </p:txBody>
      </p:sp>
      <p:sp>
        <p:nvSpPr>
          <p:cNvPr id="23" name="Rounded Rectangle 22"/>
          <p:cNvSpPr/>
          <p:nvPr/>
        </p:nvSpPr>
        <p:spPr>
          <a:xfrm>
            <a:off x="6537960" y="4983480"/>
            <a:ext cx="4754880" cy="749808"/>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84264" y="5074920"/>
            <a:ext cx="4462272" cy="585215"/>
          </a:xfrm>
          <a:prstGeom prst="rect">
            <a:avLst/>
          </a:prstGeom>
          <a:noFill/>
        </p:spPr>
        <p:txBody>
          <a:bodyPr wrap="square" lIns="45720" tIns="18288" rIns="45720" bIns="18288">
            <a:spAutoFit/>
          </a:bodyPr>
          <a:lstStyle/>
          <a:p>
            <a:pPr>
              <a:defRPr sz="1300" b="1">
                <a:solidFill>
                  <a:srgbClr val="FFFFFF"/>
                </a:solidFill>
                <a:latin typeface="Cambria Math"/>
              </a:defRPr>
            </a:pPr>
            <a:r>
              <a:t>Accuracy = correct / total;   F1_c = 2P_cR_c / (P_c + R_c);   Macro-F1 = (1/C)Σ_c F1_c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Confusion Matrix &amp; Per-Group Breakdown</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13 / 18</a:t>
            </a:r>
          </a:p>
        </p:txBody>
      </p:sp>
      <p:sp>
        <p:nvSpPr>
          <p:cNvPr id="6" name="TextBox 5"/>
          <p:cNvSpPr txBox="1"/>
          <p:nvPr/>
        </p:nvSpPr>
        <p:spPr>
          <a:xfrm>
            <a:off x="658368" y="1325880"/>
            <a:ext cx="5715000" cy="4251960"/>
          </a:xfrm>
          <a:prstGeom prst="rect">
            <a:avLst/>
          </a:prstGeom>
          <a:noFill/>
        </p:spPr>
        <p:txBody>
          <a:bodyPr wrap="square" lIns="73152" rIns="54864">
            <a:spAutoFit/>
          </a:bodyPr>
          <a:lstStyle/>
          <a:p>
            <a:pPr>
              <a:spcAft>
                <a:spcPts val="1000"/>
              </a:spcAft>
              <a:defRPr sz="1500">
                <a:solidFill>
                  <a:srgbClr val="2D3A4A"/>
                </a:solidFill>
                <a:latin typeface="Aptos"/>
              </a:defRPr>
            </a:pPr>
            <a:r>
              <a:t>•  Group 1: F1 = 90.17%; recall = 90.80% (strongest class)</a:t>
            </a:r>
          </a:p>
          <a:p>
            <a:pPr>
              <a:spcAft>
                <a:spcPts val="1000"/>
              </a:spcAft>
              <a:defRPr sz="1500">
                <a:solidFill>
                  <a:srgbClr val="2D3A4A"/>
                </a:solidFill>
                <a:latin typeface="Aptos"/>
              </a:defRPr>
            </a:pPr>
            <a:r>
              <a:t>•  Group 2: F1 = 66.44%; recall = 59.40%</a:t>
            </a:r>
          </a:p>
          <a:p>
            <a:pPr>
              <a:spcAft>
                <a:spcPts val="1000"/>
              </a:spcAft>
              <a:defRPr sz="1500">
                <a:solidFill>
                  <a:srgbClr val="2D3A4A"/>
                </a:solidFill>
                <a:latin typeface="Aptos"/>
              </a:defRPr>
            </a:pPr>
            <a:r>
              <a:t>•  Group 3: F1 = 64.06%; strongest confusion with Group 4 (120 cases)</a:t>
            </a:r>
          </a:p>
          <a:p>
            <a:pPr>
              <a:spcAft>
                <a:spcPts val="1000"/>
              </a:spcAft>
              <a:defRPr sz="1500">
                <a:solidFill>
                  <a:srgbClr val="2D3A4A"/>
                </a:solidFill>
                <a:latin typeface="Aptos"/>
              </a:defRPr>
            </a:pPr>
            <a:r>
              <a:t>•  Group 4: F1 = 80.56%; recall = 86.60%</a:t>
            </a:r>
          </a:p>
          <a:p>
            <a:pPr>
              <a:spcAft>
                <a:spcPts val="1000"/>
              </a:spcAft>
              <a:defRPr sz="1500">
                <a:solidFill>
                  <a:srgbClr val="2D3A4A"/>
                </a:solidFill>
                <a:latin typeface="Aptos"/>
              </a:defRPr>
            </a:pPr>
            <a:r>
              <a:t>•  Most important errors occur between intermediate Groups 2 and 3, and between Groups 3 and 4</a:t>
            </a:r>
          </a:p>
        </p:txBody>
      </p:sp>
      <p:sp>
        <p:nvSpPr>
          <p:cNvPr id="7" name="TextBox 6"/>
          <p:cNvSpPr txBox="1"/>
          <p:nvPr/>
        </p:nvSpPr>
        <p:spPr>
          <a:xfrm>
            <a:off x="7452360" y="1252728"/>
            <a:ext cx="2926080" cy="274320"/>
          </a:xfrm>
          <a:prstGeom prst="rect">
            <a:avLst/>
          </a:prstGeom>
          <a:noFill/>
        </p:spPr>
        <p:txBody>
          <a:bodyPr wrap="square" lIns="45720" tIns="18288" rIns="45720" bIns="18288">
            <a:spAutoFit/>
          </a:bodyPr>
          <a:lstStyle/>
          <a:p>
            <a:pPr>
              <a:defRPr sz="1100" b="1">
                <a:solidFill>
                  <a:srgbClr val="0E1D34"/>
                </a:solidFill>
                <a:latin typeface="Aptos"/>
              </a:defRPr>
            </a:pPr>
            <a:r>
              <a:t>Predicted group →</a:t>
            </a:r>
          </a:p>
        </p:txBody>
      </p:sp>
      <p:sp>
        <p:nvSpPr>
          <p:cNvPr id="8" name="TextBox 7"/>
          <p:cNvSpPr txBox="1"/>
          <p:nvPr/>
        </p:nvSpPr>
        <p:spPr>
          <a:xfrm>
            <a:off x="7068312" y="1856232"/>
            <a:ext cx="320040" cy="228600"/>
          </a:xfrm>
          <a:prstGeom prst="rect">
            <a:avLst/>
          </a:prstGeom>
          <a:noFill/>
        </p:spPr>
        <p:txBody>
          <a:bodyPr wrap="square" lIns="45720" tIns="18288" rIns="45720" bIns="18288">
            <a:spAutoFit/>
          </a:bodyPr>
          <a:lstStyle/>
          <a:p>
            <a:pPr>
              <a:defRPr sz="1000" b="1">
                <a:solidFill>
                  <a:srgbClr val="2D3A4A"/>
                </a:solidFill>
                <a:latin typeface="Aptos"/>
              </a:defRPr>
            </a:pPr>
            <a:r>
              <a:t>G1</a:t>
            </a:r>
          </a:p>
        </p:txBody>
      </p:sp>
      <p:sp>
        <p:nvSpPr>
          <p:cNvPr id="9" name="Rectangle 8"/>
          <p:cNvSpPr/>
          <p:nvPr/>
        </p:nvSpPr>
        <p:spPr>
          <a:xfrm>
            <a:off x="7452360" y="1691640"/>
            <a:ext cx="630936" cy="630936"/>
          </a:xfrm>
          <a:prstGeom prst="rect">
            <a:avLst/>
          </a:prstGeom>
          <a:solidFill>
            <a:srgbClr val="9187B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70648" y="1847088"/>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454</a:t>
            </a:r>
          </a:p>
        </p:txBody>
      </p:sp>
      <p:sp>
        <p:nvSpPr>
          <p:cNvPr id="11" name="Rectangle 10"/>
          <p:cNvSpPr/>
          <p:nvPr/>
        </p:nvSpPr>
        <p:spPr>
          <a:xfrm>
            <a:off x="8119872" y="1691640"/>
            <a:ext cx="630936" cy="630936"/>
          </a:xfrm>
          <a:prstGeom prst="rect">
            <a:avLst/>
          </a:prstGeom>
          <a:solidFill>
            <a:srgbClr val="EB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38160" y="1847088"/>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42</a:t>
            </a:r>
          </a:p>
        </p:txBody>
      </p:sp>
      <p:sp>
        <p:nvSpPr>
          <p:cNvPr id="13" name="Rectangle 12"/>
          <p:cNvSpPr/>
          <p:nvPr/>
        </p:nvSpPr>
        <p:spPr>
          <a:xfrm>
            <a:off x="8787384" y="1691640"/>
            <a:ext cx="630936" cy="630936"/>
          </a:xfrm>
          <a:prstGeom prst="rect">
            <a:avLst/>
          </a:prstGeom>
          <a:solidFill>
            <a:srgbClr val="F4F8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05672" y="1847088"/>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3</a:t>
            </a:r>
          </a:p>
        </p:txBody>
      </p:sp>
      <p:sp>
        <p:nvSpPr>
          <p:cNvPr id="15" name="Rectangle 14"/>
          <p:cNvSpPr/>
          <p:nvPr/>
        </p:nvSpPr>
        <p:spPr>
          <a:xfrm>
            <a:off x="9454896" y="1691640"/>
            <a:ext cx="630936" cy="630936"/>
          </a:xfrm>
          <a:prstGeom prst="rect">
            <a:avLst/>
          </a:prstGeom>
          <a:solidFill>
            <a:srgbClr val="F4F8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73184" y="1847088"/>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1</a:t>
            </a:r>
          </a:p>
        </p:txBody>
      </p:sp>
      <p:sp>
        <p:nvSpPr>
          <p:cNvPr id="17" name="TextBox 16"/>
          <p:cNvSpPr txBox="1"/>
          <p:nvPr/>
        </p:nvSpPr>
        <p:spPr>
          <a:xfrm>
            <a:off x="7068312" y="2523744"/>
            <a:ext cx="320040" cy="228600"/>
          </a:xfrm>
          <a:prstGeom prst="rect">
            <a:avLst/>
          </a:prstGeom>
          <a:noFill/>
        </p:spPr>
        <p:txBody>
          <a:bodyPr wrap="square" lIns="45720" tIns="18288" rIns="45720" bIns="18288">
            <a:spAutoFit/>
          </a:bodyPr>
          <a:lstStyle/>
          <a:p>
            <a:pPr>
              <a:defRPr sz="1000" b="1">
                <a:solidFill>
                  <a:srgbClr val="2D3A4A"/>
                </a:solidFill>
                <a:latin typeface="Aptos"/>
              </a:defRPr>
            </a:pPr>
            <a:r>
              <a:t>G2</a:t>
            </a:r>
          </a:p>
        </p:txBody>
      </p:sp>
      <p:sp>
        <p:nvSpPr>
          <p:cNvPr id="18" name="Rectangle 17"/>
          <p:cNvSpPr/>
          <p:nvPr/>
        </p:nvSpPr>
        <p:spPr>
          <a:xfrm>
            <a:off x="7452360" y="2359152"/>
            <a:ext cx="630936" cy="630936"/>
          </a:xfrm>
          <a:prstGeom prst="rect">
            <a:avLst/>
          </a:prstGeom>
          <a:solidFill>
            <a:srgbClr val="EAECF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70648" y="2514600"/>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49</a:t>
            </a:r>
          </a:p>
        </p:txBody>
      </p:sp>
      <p:sp>
        <p:nvSpPr>
          <p:cNvPr id="20" name="Rectangle 19"/>
          <p:cNvSpPr/>
          <p:nvPr/>
        </p:nvSpPr>
        <p:spPr>
          <a:xfrm>
            <a:off x="8119872" y="2359152"/>
            <a:ext cx="630936" cy="630936"/>
          </a:xfrm>
          <a:prstGeom prst="rect">
            <a:avLst/>
          </a:prstGeom>
          <a:solidFill>
            <a:srgbClr val="B3AEC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38160" y="2514600"/>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297</a:t>
            </a:r>
          </a:p>
        </p:txBody>
      </p:sp>
      <p:sp>
        <p:nvSpPr>
          <p:cNvPr id="22" name="Rectangle 21"/>
          <p:cNvSpPr/>
          <p:nvPr/>
        </p:nvSpPr>
        <p:spPr>
          <a:xfrm>
            <a:off x="8787384" y="2359152"/>
            <a:ext cx="630936" cy="630936"/>
          </a:xfrm>
          <a:prstGeom prst="rect">
            <a:avLst/>
          </a:prstGeom>
          <a:solidFill>
            <a:srgbClr val="D7D7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05672" y="2514600"/>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133</a:t>
            </a:r>
          </a:p>
        </p:txBody>
      </p:sp>
      <p:sp>
        <p:nvSpPr>
          <p:cNvPr id="24" name="Rectangle 23"/>
          <p:cNvSpPr/>
          <p:nvPr/>
        </p:nvSpPr>
        <p:spPr>
          <a:xfrm>
            <a:off x="9454896" y="2359152"/>
            <a:ext cx="630936" cy="630936"/>
          </a:xfrm>
          <a:prstGeom prst="rect">
            <a:avLst/>
          </a:prstGeom>
          <a:solidFill>
            <a:srgbClr val="F0F3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73184" y="2514600"/>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21</a:t>
            </a:r>
          </a:p>
        </p:txBody>
      </p:sp>
      <p:sp>
        <p:nvSpPr>
          <p:cNvPr id="26" name="TextBox 25"/>
          <p:cNvSpPr txBox="1"/>
          <p:nvPr/>
        </p:nvSpPr>
        <p:spPr>
          <a:xfrm>
            <a:off x="7068312" y="3191256"/>
            <a:ext cx="320040" cy="228600"/>
          </a:xfrm>
          <a:prstGeom prst="rect">
            <a:avLst/>
          </a:prstGeom>
          <a:noFill/>
        </p:spPr>
        <p:txBody>
          <a:bodyPr wrap="square" lIns="45720" tIns="18288" rIns="45720" bIns="18288">
            <a:spAutoFit/>
          </a:bodyPr>
          <a:lstStyle/>
          <a:p>
            <a:pPr>
              <a:defRPr sz="1000" b="1">
                <a:solidFill>
                  <a:srgbClr val="2D3A4A"/>
                </a:solidFill>
                <a:latin typeface="Aptos"/>
              </a:defRPr>
            </a:pPr>
            <a:r>
              <a:t>G3</a:t>
            </a:r>
          </a:p>
        </p:txBody>
      </p:sp>
      <p:sp>
        <p:nvSpPr>
          <p:cNvPr id="27" name="Rectangle 26"/>
          <p:cNvSpPr/>
          <p:nvPr/>
        </p:nvSpPr>
        <p:spPr>
          <a:xfrm>
            <a:off x="7452360" y="3026664"/>
            <a:ext cx="630936" cy="630936"/>
          </a:xfrm>
          <a:prstGeom prst="rect">
            <a:avLst/>
          </a:prstGeom>
          <a:solidFill>
            <a:srgbClr val="F4F8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70648" y="3182112"/>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3</a:t>
            </a:r>
          </a:p>
        </p:txBody>
      </p:sp>
      <p:sp>
        <p:nvSpPr>
          <p:cNvPr id="29" name="Rectangle 28"/>
          <p:cNvSpPr/>
          <p:nvPr/>
        </p:nvSpPr>
        <p:spPr>
          <a:xfrm>
            <a:off x="8119872" y="3026664"/>
            <a:ext cx="630936" cy="630936"/>
          </a:xfrm>
          <a:prstGeom prst="rect">
            <a:avLst/>
          </a:prstGeom>
          <a:solidFill>
            <a:srgbClr val="EAECF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138160" y="3182112"/>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49</a:t>
            </a:r>
          </a:p>
        </p:txBody>
      </p:sp>
      <p:sp>
        <p:nvSpPr>
          <p:cNvPr id="31" name="Rectangle 30"/>
          <p:cNvSpPr/>
          <p:nvPr/>
        </p:nvSpPr>
        <p:spPr>
          <a:xfrm>
            <a:off x="8787384" y="3026664"/>
            <a:ext cx="630936" cy="630936"/>
          </a:xfrm>
          <a:prstGeom prst="rect">
            <a:avLst/>
          </a:prstGeom>
          <a:solidFill>
            <a:srgbClr val="ACA7C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05672" y="3182112"/>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328</a:t>
            </a:r>
          </a:p>
        </p:txBody>
      </p:sp>
      <p:sp>
        <p:nvSpPr>
          <p:cNvPr id="33" name="Rectangle 32"/>
          <p:cNvSpPr/>
          <p:nvPr/>
        </p:nvSpPr>
        <p:spPr>
          <a:xfrm>
            <a:off x="9454896" y="3026664"/>
            <a:ext cx="630936" cy="630936"/>
          </a:xfrm>
          <a:prstGeom prst="rect">
            <a:avLst/>
          </a:prstGeom>
          <a:solidFill>
            <a:srgbClr val="DADBE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473184" y="3182112"/>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120</a:t>
            </a:r>
          </a:p>
        </p:txBody>
      </p:sp>
      <p:sp>
        <p:nvSpPr>
          <p:cNvPr id="35" name="TextBox 34"/>
          <p:cNvSpPr txBox="1"/>
          <p:nvPr/>
        </p:nvSpPr>
        <p:spPr>
          <a:xfrm>
            <a:off x="7068312" y="3858768"/>
            <a:ext cx="320040" cy="228600"/>
          </a:xfrm>
          <a:prstGeom prst="rect">
            <a:avLst/>
          </a:prstGeom>
          <a:noFill/>
        </p:spPr>
        <p:txBody>
          <a:bodyPr wrap="square" lIns="45720" tIns="18288" rIns="45720" bIns="18288">
            <a:spAutoFit/>
          </a:bodyPr>
          <a:lstStyle/>
          <a:p>
            <a:pPr>
              <a:defRPr sz="1000" b="1">
                <a:solidFill>
                  <a:srgbClr val="2D3A4A"/>
                </a:solidFill>
                <a:latin typeface="Aptos"/>
              </a:defRPr>
            </a:pPr>
            <a:r>
              <a:t>G4</a:t>
            </a:r>
          </a:p>
        </p:txBody>
      </p:sp>
      <p:sp>
        <p:nvSpPr>
          <p:cNvPr id="36" name="Rectangle 35"/>
          <p:cNvSpPr/>
          <p:nvPr/>
        </p:nvSpPr>
        <p:spPr>
          <a:xfrm>
            <a:off x="7452360" y="3694176"/>
            <a:ext cx="630936" cy="630936"/>
          </a:xfrm>
          <a:prstGeom prst="rect">
            <a:avLst/>
          </a:prstGeom>
          <a:solidFill>
            <a:srgbClr val="F4F8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470648" y="3849624"/>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1</a:t>
            </a:r>
          </a:p>
        </p:txBody>
      </p:sp>
      <p:sp>
        <p:nvSpPr>
          <p:cNvPr id="38" name="Rectangle 37"/>
          <p:cNvSpPr/>
          <p:nvPr/>
        </p:nvSpPr>
        <p:spPr>
          <a:xfrm>
            <a:off x="8119872" y="3694176"/>
            <a:ext cx="630936" cy="630936"/>
          </a:xfrm>
          <a:prstGeom prst="rect">
            <a:avLst/>
          </a:prstGeom>
          <a:solidFill>
            <a:srgbClr val="F3F7F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138160" y="3849624"/>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6</a:t>
            </a:r>
          </a:p>
        </p:txBody>
      </p:sp>
      <p:sp>
        <p:nvSpPr>
          <p:cNvPr id="40" name="Rectangle 39"/>
          <p:cNvSpPr/>
          <p:nvPr/>
        </p:nvSpPr>
        <p:spPr>
          <a:xfrm>
            <a:off x="8787384" y="3694176"/>
            <a:ext cx="630936" cy="630936"/>
          </a:xfrm>
          <a:prstGeom prst="rect">
            <a:avLst/>
          </a:prstGeom>
          <a:solidFill>
            <a:srgbClr val="E7EAF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805672" y="3849624"/>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60</a:t>
            </a:r>
          </a:p>
        </p:txBody>
      </p:sp>
      <p:sp>
        <p:nvSpPr>
          <p:cNvPr id="42" name="Rectangle 41"/>
          <p:cNvSpPr/>
          <p:nvPr/>
        </p:nvSpPr>
        <p:spPr>
          <a:xfrm>
            <a:off x="9454896" y="3694176"/>
            <a:ext cx="630936" cy="630936"/>
          </a:xfrm>
          <a:prstGeom prst="rect">
            <a:avLst/>
          </a:prstGeom>
          <a:solidFill>
            <a:srgbClr val="958CB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473184" y="3849624"/>
            <a:ext cx="594360" cy="228600"/>
          </a:xfrm>
          <a:prstGeom prst="rect">
            <a:avLst/>
          </a:prstGeom>
          <a:noFill/>
        </p:spPr>
        <p:txBody>
          <a:bodyPr wrap="square" lIns="45720" tIns="18288" rIns="45720" bIns="18288">
            <a:spAutoFit/>
          </a:bodyPr>
          <a:lstStyle/>
          <a:p>
            <a:pPr algn="ctr">
              <a:defRPr sz="1000" b="1">
                <a:solidFill>
                  <a:srgbClr val="0E1D34"/>
                </a:solidFill>
                <a:latin typeface="Aptos"/>
              </a:defRPr>
            </a:pPr>
            <a:r>
              <a:t>433</a:t>
            </a:r>
          </a:p>
        </p:txBody>
      </p:sp>
      <p:sp>
        <p:nvSpPr>
          <p:cNvPr id="44" name="TextBox 43"/>
          <p:cNvSpPr txBox="1"/>
          <p:nvPr/>
        </p:nvSpPr>
        <p:spPr>
          <a:xfrm>
            <a:off x="7452360" y="4453127"/>
            <a:ext cx="2834640" cy="411480"/>
          </a:xfrm>
          <a:prstGeom prst="rect">
            <a:avLst/>
          </a:prstGeom>
          <a:noFill/>
        </p:spPr>
        <p:txBody>
          <a:bodyPr wrap="square" lIns="45720" tIns="18288" rIns="45720" bIns="18288">
            <a:spAutoFit/>
          </a:bodyPr>
          <a:lstStyle/>
          <a:p>
            <a:pPr>
              <a:defRPr sz="1000" b="0">
                <a:solidFill>
                  <a:srgbClr val="667584"/>
                </a:solidFill>
                <a:latin typeface="Aptos"/>
              </a:defRPr>
            </a:pPr>
            <a:r>
              <a:t>True group ↓  |  500 users per row</a:t>
            </a:r>
          </a:p>
        </p:txBody>
      </p:sp>
      <p:sp>
        <p:nvSpPr>
          <p:cNvPr id="45" name="Rounded Rectangle 44"/>
          <p:cNvSpPr/>
          <p:nvPr/>
        </p:nvSpPr>
        <p:spPr>
          <a:xfrm>
            <a:off x="7360920" y="5074920"/>
            <a:ext cx="4069080" cy="731520"/>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507224" y="5166359"/>
            <a:ext cx="3776472" cy="566928"/>
          </a:xfrm>
          <a:prstGeom prst="rect">
            <a:avLst/>
          </a:prstGeom>
          <a:noFill/>
        </p:spPr>
        <p:txBody>
          <a:bodyPr wrap="square" lIns="45720" tIns="18288" rIns="45720" bIns="18288">
            <a:spAutoFit/>
          </a:bodyPr>
          <a:lstStyle/>
          <a:p>
            <a:pPr>
              <a:defRPr sz="1300" b="1">
                <a:solidFill>
                  <a:srgbClr val="FFFFFF"/>
                </a:solidFill>
                <a:latin typeface="Cambria Math"/>
              </a:defRPr>
            </a:pPr>
            <a:r>
              <a:t>Diagonal = correct predictions; off-diagonal = confusion</a:t>
            </a:r>
          </a:p>
        </p:txBody>
      </p:sp>
      <p:pic>
        <p:nvPicPr>
          <p:cNvPr id="50" name="Picture 49">
            <a:extLst>
              <a:ext uri="{FF2B5EF4-FFF2-40B4-BE49-F238E27FC236}">
                <a16:creationId xmlns:a16="http://schemas.microsoft.com/office/drawing/2014/main" id="{D6272B69-3BC4-667A-21A6-C9F2776F77E6}"/>
              </a:ext>
            </a:extLst>
          </p:cNvPr>
          <p:cNvPicPr>
            <a:picLocks noChangeAspect="1"/>
          </p:cNvPicPr>
          <p:nvPr/>
        </p:nvPicPr>
        <p:blipFill>
          <a:blip r:embed="rId3"/>
          <a:stretch>
            <a:fillRect/>
          </a:stretch>
        </p:blipFill>
        <p:spPr>
          <a:xfrm>
            <a:off x="6477000" y="987552"/>
            <a:ext cx="5715000" cy="50006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Baseline Model Comparisons</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14 / 18</a:t>
            </a:r>
          </a:p>
        </p:txBody>
      </p:sp>
      <p:sp>
        <p:nvSpPr>
          <p:cNvPr id="6" name="TextBox 5"/>
          <p:cNvSpPr txBox="1"/>
          <p:nvPr/>
        </p:nvSpPr>
        <p:spPr>
          <a:xfrm>
            <a:off x="658368" y="1325880"/>
            <a:ext cx="5669280" cy="4251960"/>
          </a:xfrm>
          <a:prstGeom prst="rect">
            <a:avLst/>
          </a:prstGeom>
          <a:noFill/>
        </p:spPr>
        <p:txBody>
          <a:bodyPr wrap="square" lIns="73152" rIns="54864">
            <a:spAutoFit/>
          </a:bodyPr>
          <a:lstStyle/>
          <a:p>
            <a:pPr>
              <a:spcAft>
                <a:spcPts val="1000"/>
              </a:spcAft>
              <a:defRPr sz="1500">
                <a:solidFill>
                  <a:srgbClr val="2D3A4A"/>
                </a:solidFill>
                <a:latin typeface="Aptos"/>
              </a:defRPr>
            </a:pPr>
            <a:r>
              <a:t>•  Model 1 — Fully supervised GNN: accuracy 70.33%, precision 70.80%, F1 70.82%</a:t>
            </a:r>
          </a:p>
          <a:p>
            <a:pPr>
              <a:spcAft>
                <a:spcPts val="1000"/>
              </a:spcAft>
              <a:defRPr sz="1500">
                <a:solidFill>
                  <a:srgbClr val="2D3A4A"/>
                </a:solidFill>
                <a:latin typeface="Aptos"/>
              </a:defRPr>
            </a:pPr>
            <a:r>
              <a:t>•  Model 2 — Semi-supervised GNN without CSI uncertainty: accuracy 67.33%, precision 66.50%, F1 66.34%</a:t>
            </a:r>
          </a:p>
          <a:p>
            <a:pPr>
              <a:spcAft>
                <a:spcPts val="1000"/>
              </a:spcAft>
              <a:defRPr sz="1500">
                <a:solidFill>
                  <a:srgbClr val="2D3A4A"/>
                </a:solidFill>
                <a:latin typeface="Aptos"/>
              </a:defRPr>
            </a:pPr>
            <a:r>
              <a:t>•  Model 3 — Proposed uncertainty-aware semi-supervised GNN: accuracy 75.60%, precision 75.71%, F1 75.31%</a:t>
            </a:r>
          </a:p>
          <a:p>
            <a:pPr>
              <a:spcAft>
                <a:spcPts val="1000"/>
              </a:spcAft>
              <a:defRPr sz="1500">
                <a:solidFill>
                  <a:srgbClr val="2D3A4A"/>
                </a:solidFill>
                <a:latin typeface="Aptos"/>
              </a:defRPr>
            </a:pPr>
            <a:r>
              <a:t>•  Proposed model is +5.27 percentage points in accuracy vs Model 1</a:t>
            </a:r>
          </a:p>
          <a:p>
            <a:pPr>
              <a:spcAft>
                <a:spcPts val="1000"/>
              </a:spcAft>
              <a:defRPr sz="1500">
                <a:solidFill>
                  <a:srgbClr val="2D3A4A"/>
                </a:solidFill>
                <a:latin typeface="Aptos"/>
              </a:defRPr>
            </a:pPr>
            <a:r>
              <a:t>•  Proposed model is +8.27 percentage points in accuracy vs Model 2; verify identical split/seed/budget for fair attribution</a:t>
            </a:r>
          </a:p>
        </p:txBody>
      </p:sp>
      <p:sp>
        <p:nvSpPr>
          <p:cNvPr id="7" name="TextBox 6"/>
          <p:cNvSpPr txBox="1"/>
          <p:nvPr/>
        </p:nvSpPr>
        <p:spPr>
          <a:xfrm>
            <a:off x="6492240" y="1600200"/>
            <a:ext cx="4846320" cy="320040"/>
          </a:xfrm>
          <a:prstGeom prst="rect">
            <a:avLst/>
          </a:prstGeom>
          <a:noFill/>
        </p:spPr>
        <p:txBody>
          <a:bodyPr wrap="square" lIns="45720" tIns="18288" rIns="45720" bIns="18288">
            <a:spAutoFit/>
          </a:bodyPr>
          <a:lstStyle/>
          <a:p>
            <a:pPr>
              <a:defRPr sz="1200" b="1">
                <a:solidFill>
                  <a:srgbClr val="0E1D34"/>
                </a:solidFill>
                <a:latin typeface="Aptos"/>
              </a:defRPr>
            </a:pPr>
            <a:r>
              <a:t>Accuracy / Precision / F1 (%)</a:t>
            </a:r>
          </a:p>
        </p:txBody>
      </p:sp>
      <p:sp>
        <p:nvSpPr>
          <p:cNvPr id="8" name="TextBox 7"/>
          <p:cNvSpPr txBox="1"/>
          <p:nvPr/>
        </p:nvSpPr>
        <p:spPr>
          <a:xfrm>
            <a:off x="6492240" y="2286000"/>
            <a:ext cx="1417320" cy="457200"/>
          </a:xfrm>
          <a:prstGeom prst="rect">
            <a:avLst/>
          </a:prstGeom>
          <a:noFill/>
        </p:spPr>
        <p:txBody>
          <a:bodyPr wrap="square" lIns="45720" tIns="18288" rIns="45720" bIns="18288">
            <a:spAutoFit/>
          </a:bodyPr>
          <a:lstStyle/>
          <a:p>
            <a:pPr>
              <a:defRPr sz="1000" b="1">
                <a:solidFill>
                  <a:srgbClr val="2D3A4A"/>
                </a:solidFill>
                <a:latin typeface="Aptos"/>
              </a:defRPr>
            </a:pPr>
            <a:r>
              <a:t>Fully supervised</a:t>
            </a:r>
          </a:p>
        </p:txBody>
      </p:sp>
      <p:sp>
        <p:nvSpPr>
          <p:cNvPr id="9" name="Rounded Rectangle 8"/>
          <p:cNvSpPr/>
          <p:nvPr/>
        </p:nvSpPr>
        <p:spPr>
          <a:xfrm>
            <a:off x="8046719" y="2304288"/>
            <a:ext cx="841248" cy="256032"/>
          </a:xfrm>
          <a:prstGeom prst="roundRect">
            <a:avLst/>
          </a:prstGeom>
          <a:solidFill>
            <a:srgbClr val="D3DFEB"/>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46719" y="2304288"/>
            <a:ext cx="591649" cy="256032"/>
          </a:xfrm>
          <a:prstGeom prst="round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9" y="2596896"/>
            <a:ext cx="877824" cy="201168"/>
          </a:xfrm>
          <a:prstGeom prst="rect">
            <a:avLst/>
          </a:prstGeom>
          <a:noFill/>
        </p:spPr>
        <p:txBody>
          <a:bodyPr wrap="square" lIns="45720" tIns="18288" rIns="45720" bIns="18288">
            <a:spAutoFit/>
          </a:bodyPr>
          <a:lstStyle/>
          <a:p>
            <a:pPr algn="ctr">
              <a:defRPr sz="800" b="1">
                <a:solidFill>
                  <a:srgbClr val="667584"/>
                </a:solidFill>
                <a:latin typeface="Aptos"/>
              </a:defRPr>
            </a:pPr>
            <a:r>
              <a:t>70.3</a:t>
            </a:r>
          </a:p>
        </p:txBody>
      </p:sp>
      <p:sp>
        <p:nvSpPr>
          <p:cNvPr id="12" name="Rounded Rectangle 11"/>
          <p:cNvSpPr/>
          <p:nvPr/>
        </p:nvSpPr>
        <p:spPr>
          <a:xfrm>
            <a:off x="9070847" y="2304288"/>
            <a:ext cx="841248" cy="256032"/>
          </a:xfrm>
          <a:prstGeom prst="roundRect">
            <a:avLst/>
          </a:prstGeom>
          <a:solidFill>
            <a:srgbClr val="D3DFEB"/>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070847" y="2304288"/>
            <a:ext cx="595603" cy="256032"/>
          </a:xfrm>
          <a:prstGeom prst="roundRect">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70847" y="2596896"/>
            <a:ext cx="877824" cy="201168"/>
          </a:xfrm>
          <a:prstGeom prst="rect">
            <a:avLst/>
          </a:prstGeom>
          <a:noFill/>
        </p:spPr>
        <p:txBody>
          <a:bodyPr wrap="square" lIns="45720" tIns="18288" rIns="45720" bIns="18288">
            <a:spAutoFit/>
          </a:bodyPr>
          <a:lstStyle/>
          <a:p>
            <a:pPr algn="ctr">
              <a:defRPr sz="800" b="1">
                <a:solidFill>
                  <a:srgbClr val="667584"/>
                </a:solidFill>
                <a:latin typeface="Aptos"/>
              </a:defRPr>
            </a:pPr>
            <a:r>
              <a:t>70.8</a:t>
            </a:r>
          </a:p>
        </p:txBody>
      </p:sp>
      <p:sp>
        <p:nvSpPr>
          <p:cNvPr id="15" name="Rounded Rectangle 14"/>
          <p:cNvSpPr/>
          <p:nvPr/>
        </p:nvSpPr>
        <p:spPr>
          <a:xfrm>
            <a:off x="10094976" y="2304288"/>
            <a:ext cx="841248" cy="256032"/>
          </a:xfrm>
          <a:prstGeom prst="roundRect">
            <a:avLst/>
          </a:prstGeom>
          <a:solidFill>
            <a:srgbClr val="D3DFEB"/>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094976" y="2304288"/>
            <a:ext cx="595771" cy="256032"/>
          </a:xfrm>
          <a:prstGeom prst="roundRect">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94976" y="2596896"/>
            <a:ext cx="877824" cy="201168"/>
          </a:xfrm>
          <a:prstGeom prst="rect">
            <a:avLst/>
          </a:prstGeom>
          <a:noFill/>
        </p:spPr>
        <p:txBody>
          <a:bodyPr wrap="square" lIns="45720" tIns="18288" rIns="45720" bIns="18288">
            <a:spAutoFit/>
          </a:bodyPr>
          <a:lstStyle/>
          <a:p>
            <a:pPr algn="ctr">
              <a:defRPr sz="800" b="1">
                <a:solidFill>
                  <a:srgbClr val="667584"/>
                </a:solidFill>
                <a:latin typeface="Aptos"/>
              </a:defRPr>
            </a:pPr>
            <a:r>
              <a:t>70.8</a:t>
            </a:r>
          </a:p>
        </p:txBody>
      </p:sp>
      <p:sp>
        <p:nvSpPr>
          <p:cNvPr id="18" name="TextBox 17"/>
          <p:cNvSpPr txBox="1"/>
          <p:nvPr/>
        </p:nvSpPr>
        <p:spPr>
          <a:xfrm>
            <a:off x="6492240" y="3337560"/>
            <a:ext cx="1417320" cy="457200"/>
          </a:xfrm>
          <a:prstGeom prst="rect">
            <a:avLst/>
          </a:prstGeom>
          <a:noFill/>
        </p:spPr>
        <p:txBody>
          <a:bodyPr wrap="square" lIns="45720" tIns="18288" rIns="45720" bIns="18288">
            <a:spAutoFit/>
          </a:bodyPr>
          <a:lstStyle/>
          <a:p>
            <a:pPr>
              <a:defRPr sz="1000" b="1">
                <a:solidFill>
                  <a:srgbClr val="2D3A4A"/>
                </a:solidFill>
                <a:latin typeface="Aptos"/>
              </a:defRPr>
            </a:pPr>
            <a:r>
              <a:t>Semi-supervised</a:t>
            </a:r>
            <a:br/>
            <a:r>
              <a:t>no uncertainty</a:t>
            </a:r>
          </a:p>
        </p:txBody>
      </p:sp>
      <p:sp>
        <p:nvSpPr>
          <p:cNvPr id="19" name="Rounded Rectangle 18"/>
          <p:cNvSpPr/>
          <p:nvPr/>
        </p:nvSpPr>
        <p:spPr>
          <a:xfrm>
            <a:off x="8046719" y="3355848"/>
            <a:ext cx="841248" cy="256032"/>
          </a:xfrm>
          <a:prstGeom prst="roundRect">
            <a:avLst/>
          </a:prstGeom>
          <a:solidFill>
            <a:srgbClr val="D3DFEB"/>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046719" y="3355848"/>
            <a:ext cx="566412" cy="256032"/>
          </a:xfrm>
          <a:prstGeom prst="round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46719" y="3648456"/>
            <a:ext cx="877824" cy="201168"/>
          </a:xfrm>
          <a:prstGeom prst="rect">
            <a:avLst/>
          </a:prstGeom>
          <a:noFill/>
        </p:spPr>
        <p:txBody>
          <a:bodyPr wrap="square" lIns="45720" tIns="18288" rIns="45720" bIns="18288">
            <a:spAutoFit/>
          </a:bodyPr>
          <a:lstStyle/>
          <a:p>
            <a:pPr algn="ctr">
              <a:defRPr sz="800" b="1">
                <a:solidFill>
                  <a:srgbClr val="667584"/>
                </a:solidFill>
                <a:latin typeface="Aptos"/>
              </a:defRPr>
            </a:pPr>
            <a:r>
              <a:t>67.3</a:t>
            </a:r>
          </a:p>
        </p:txBody>
      </p:sp>
      <p:sp>
        <p:nvSpPr>
          <p:cNvPr id="22" name="Rounded Rectangle 21"/>
          <p:cNvSpPr/>
          <p:nvPr/>
        </p:nvSpPr>
        <p:spPr>
          <a:xfrm>
            <a:off x="9070847" y="3355848"/>
            <a:ext cx="841248" cy="256032"/>
          </a:xfrm>
          <a:prstGeom prst="roundRect">
            <a:avLst/>
          </a:prstGeom>
          <a:solidFill>
            <a:srgbClr val="D3DFEB"/>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070847" y="3355848"/>
            <a:ext cx="559429" cy="256032"/>
          </a:xfrm>
          <a:prstGeom prst="roundRect">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070847" y="3648456"/>
            <a:ext cx="877824" cy="201168"/>
          </a:xfrm>
          <a:prstGeom prst="rect">
            <a:avLst/>
          </a:prstGeom>
          <a:noFill/>
        </p:spPr>
        <p:txBody>
          <a:bodyPr wrap="square" lIns="45720" tIns="18288" rIns="45720" bIns="18288">
            <a:spAutoFit/>
          </a:bodyPr>
          <a:lstStyle/>
          <a:p>
            <a:pPr algn="ctr">
              <a:defRPr sz="800" b="1">
                <a:solidFill>
                  <a:srgbClr val="667584"/>
                </a:solidFill>
                <a:latin typeface="Aptos"/>
              </a:defRPr>
            </a:pPr>
            <a:r>
              <a:t>66.5</a:t>
            </a:r>
          </a:p>
        </p:txBody>
      </p:sp>
      <p:sp>
        <p:nvSpPr>
          <p:cNvPr id="25" name="Rounded Rectangle 24"/>
          <p:cNvSpPr/>
          <p:nvPr/>
        </p:nvSpPr>
        <p:spPr>
          <a:xfrm>
            <a:off x="10094976" y="3355848"/>
            <a:ext cx="841248" cy="256032"/>
          </a:xfrm>
          <a:prstGeom prst="roundRect">
            <a:avLst/>
          </a:prstGeom>
          <a:solidFill>
            <a:srgbClr val="D3DFEB"/>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10094976" y="3355848"/>
            <a:ext cx="558083" cy="256032"/>
          </a:xfrm>
          <a:prstGeom prst="roundRect">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094976" y="3648456"/>
            <a:ext cx="877824" cy="201168"/>
          </a:xfrm>
          <a:prstGeom prst="rect">
            <a:avLst/>
          </a:prstGeom>
          <a:noFill/>
        </p:spPr>
        <p:txBody>
          <a:bodyPr wrap="square" lIns="45720" tIns="18288" rIns="45720" bIns="18288">
            <a:spAutoFit/>
          </a:bodyPr>
          <a:lstStyle/>
          <a:p>
            <a:pPr algn="ctr">
              <a:defRPr sz="800" b="1">
                <a:solidFill>
                  <a:srgbClr val="667584"/>
                </a:solidFill>
                <a:latin typeface="Aptos"/>
              </a:defRPr>
            </a:pPr>
            <a:r>
              <a:t>66.3</a:t>
            </a:r>
          </a:p>
        </p:txBody>
      </p:sp>
      <p:sp>
        <p:nvSpPr>
          <p:cNvPr id="28" name="TextBox 27"/>
          <p:cNvSpPr txBox="1"/>
          <p:nvPr/>
        </p:nvSpPr>
        <p:spPr>
          <a:xfrm>
            <a:off x="6492240" y="4389120"/>
            <a:ext cx="1417320" cy="457200"/>
          </a:xfrm>
          <a:prstGeom prst="rect">
            <a:avLst/>
          </a:prstGeom>
          <a:noFill/>
        </p:spPr>
        <p:txBody>
          <a:bodyPr wrap="square" lIns="45720" tIns="18288" rIns="45720" bIns="18288">
            <a:spAutoFit/>
          </a:bodyPr>
          <a:lstStyle/>
          <a:p>
            <a:pPr>
              <a:defRPr sz="1000" b="1">
                <a:solidFill>
                  <a:srgbClr val="2D3A4A"/>
                </a:solidFill>
                <a:latin typeface="Aptos"/>
              </a:defRPr>
            </a:pPr>
            <a:r>
              <a:t>Proposed model</a:t>
            </a:r>
          </a:p>
        </p:txBody>
      </p:sp>
      <p:sp>
        <p:nvSpPr>
          <p:cNvPr id="29" name="Rounded Rectangle 28"/>
          <p:cNvSpPr/>
          <p:nvPr/>
        </p:nvSpPr>
        <p:spPr>
          <a:xfrm>
            <a:off x="8046719" y="4407407"/>
            <a:ext cx="841248" cy="256032"/>
          </a:xfrm>
          <a:prstGeom prst="roundRect">
            <a:avLst/>
          </a:prstGeom>
          <a:solidFill>
            <a:srgbClr val="D3DFEB"/>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046719" y="4407407"/>
            <a:ext cx="635983" cy="256032"/>
          </a:xfrm>
          <a:prstGeom prst="round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46719" y="4700016"/>
            <a:ext cx="877824" cy="201168"/>
          </a:xfrm>
          <a:prstGeom prst="rect">
            <a:avLst/>
          </a:prstGeom>
          <a:noFill/>
        </p:spPr>
        <p:txBody>
          <a:bodyPr wrap="square" lIns="45720" tIns="18288" rIns="45720" bIns="18288">
            <a:spAutoFit/>
          </a:bodyPr>
          <a:lstStyle/>
          <a:p>
            <a:pPr algn="ctr">
              <a:defRPr sz="800" b="1">
                <a:solidFill>
                  <a:srgbClr val="667584"/>
                </a:solidFill>
                <a:latin typeface="Aptos"/>
              </a:defRPr>
            </a:pPr>
            <a:r>
              <a:t>75.6</a:t>
            </a:r>
          </a:p>
        </p:txBody>
      </p:sp>
      <p:sp>
        <p:nvSpPr>
          <p:cNvPr id="32" name="Rounded Rectangle 31"/>
          <p:cNvSpPr/>
          <p:nvPr/>
        </p:nvSpPr>
        <p:spPr>
          <a:xfrm>
            <a:off x="9070847" y="4407407"/>
            <a:ext cx="841248" cy="256032"/>
          </a:xfrm>
          <a:prstGeom prst="roundRect">
            <a:avLst/>
          </a:prstGeom>
          <a:solidFill>
            <a:srgbClr val="D3DFEB"/>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070847" y="4407407"/>
            <a:ext cx="636908" cy="256032"/>
          </a:xfrm>
          <a:prstGeom prst="roundRect">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70847" y="4700016"/>
            <a:ext cx="877824" cy="201168"/>
          </a:xfrm>
          <a:prstGeom prst="rect">
            <a:avLst/>
          </a:prstGeom>
          <a:noFill/>
        </p:spPr>
        <p:txBody>
          <a:bodyPr wrap="square" lIns="45720" tIns="18288" rIns="45720" bIns="18288">
            <a:spAutoFit/>
          </a:bodyPr>
          <a:lstStyle/>
          <a:p>
            <a:pPr algn="ctr">
              <a:defRPr sz="800" b="1">
                <a:solidFill>
                  <a:srgbClr val="667584"/>
                </a:solidFill>
                <a:latin typeface="Aptos"/>
              </a:defRPr>
            </a:pPr>
            <a:r>
              <a:t>75.7</a:t>
            </a:r>
          </a:p>
        </p:txBody>
      </p:sp>
      <p:sp>
        <p:nvSpPr>
          <p:cNvPr id="35" name="Rounded Rectangle 34"/>
          <p:cNvSpPr/>
          <p:nvPr/>
        </p:nvSpPr>
        <p:spPr>
          <a:xfrm>
            <a:off x="10094976" y="4407407"/>
            <a:ext cx="841248" cy="256032"/>
          </a:xfrm>
          <a:prstGeom prst="roundRect">
            <a:avLst/>
          </a:prstGeom>
          <a:solidFill>
            <a:srgbClr val="D3DFEB"/>
          </a:solidFill>
          <a:ln>
            <a:solidFill>
              <a:srgbClr val="D3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10094976" y="4407407"/>
            <a:ext cx="633543" cy="256032"/>
          </a:xfrm>
          <a:prstGeom prst="roundRect">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094976" y="4700016"/>
            <a:ext cx="877824" cy="201168"/>
          </a:xfrm>
          <a:prstGeom prst="rect">
            <a:avLst/>
          </a:prstGeom>
          <a:noFill/>
        </p:spPr>
        <p:txBody>
          <a:bodyPr wrap="square" lIns="45720" tIns="18288" rIns="45720" bIns="18288">
            <a:spAutoFit/>
          </a:bodyPr>
          <a:lstStyle/>
          <a:p>
            <a:pPr algn="ctr">
              <a:defRPr sz="800" b="1">
                <a:solidFill>
                  <a:srgbClr val="667584"/>
                </a:solidFill>
                <a:latin typeface="Aptos"/>
              </a:defRPr>
            </a:pPr>
            <a:r>
              <a:t>75.3</a:t>
            </a:r>
          </a:p>
        </p:txBody>
      </p:sp>
      <p:sp>
        <p:nvSpPr>
          <p:cNvPr id="38" name="TextBox 37"/>
          <p:cNvSpPr txBox="1"/>
          <p:nvPr/>
        </p:nvSpPr>
        <p:spPr>
          <a:xfrm>
            <a:off x="6492240" y="4709160"/>
            <a:ext cx="4754880" cy="475488"/>
          </a:xfrm>
          <a:prstGeom prst="rect">
            <a:avLst/>
          </a:prstGeom>
          <a:noFill/>
        </p:spPr>
        <p:txBody>
          <a:bodyPr wrap="square" lIns="45720" tIns="18288" rIns="45720" bIns="18288">
            <a:spAutoFit/>
          </a:bodyPr>
          <a:lstStyle/>
          <a:p>
            <a:pPr>
              <a:defRPr sz="1100" b="1">
                <a:solidFill>
                  <a:srgbClr val="11827F"/>
                </a:solidFill>
                <a:latin typeface="Aptos"/>
              </a:defRPr>
            </a:pPr>
            <a:r>
              <a:t>Proposed accuracy gain: +5.27 pp vs supervised</a:t>
            </a:r>
          </a:p>
        </p:txBody>
      </p:sp>
      <p:sp>
        <p:nvSpPr>
          <p:cNvPr id="39" name="Rounded Rectangle 38"/>
          <p:cNvSpPr/>
          <p:nvPr/>
        </p:nvSpPr>
        <p:spPr>
          <a:xfrm>
            <a:off x="6492240" y="5285232"/>
            <a:ext cx="4709160" cy="658368"/>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38544" y="5376672"/>
            <a:ext cx="4416552" cy="493776"/>
          </a:xfrm>
          <a:prstGeom prst="rect">
            <a:avLst/>
          </a:prstGeom>
          <a:noFill/>
        </p:spPr>
        <p:txBody>
          <a:bodyPr wrap="square" lIns="45720" tIns="18288" rIns="45720" bIns="18288">
            <a:spAutoFit/>
          </a:bodyPr>
          <a:lstStyle/>
          <a:p>
            <a:pPr>
              <a:defRPr sz="1300" b="1">
                <a:solidFill>
                  <a:srgbClr val="FFFFFF"/>
                </a:solidFill>
                <a:latin typeface="Cambria Math"/>
              </a:defRPr>
            </a:pPr>
            <a:r>
              <a:t>ΔAccuracy(Model 3 − Model 1) = 75.60 − 70.33 = +5.27 pp</a:t>
            </a:r>
          </a:p>
        </p:txBody>
      </p:sp>
      <p:pic>
        <p:nvPicPr>
          <p:cNvPr id="44" name="Picture 43">
            <a:extLst>
              <a:ext uri="{FF2B5EF4-FFF2-40B4-BE49-F238E27FC236}">
                <a16:creationId xmlns:a16="http://schemas.microsoft.com/office/drawing/2014/main" id="{1EDE6A5A-47AD-701F-12BA-1F48C0A1E521}"/>
              </a:ext>
            </a:extLst>
          </p:cNvPr>
          <p:cNvPicPr>
            <a:picLocks noChangeAspect="1"/>
          </p:cNvPicPr>
          <p:nvPr/>
        </p:nvPicPr>
        <p:blipFill>
          <a:blip r:embed="rId3"/>
          <a:stretch>
            <a:fillRect/>
          </a:stretch>
        </p:blipFill>
        <p:spPr>
          <a:xfrm>
            <a:off x="6392129" y="1225296"/>
            <a:ext cx="5357435" cy="488662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Label Efficiency &amp; CSI Uncertainty Sensitivity</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15 / 18</a:t>
            </a:r>
          </a:p>
        </p:txBody>
      </p:sp>
      <p:sp>
        <p:nvSpPr>
          <p:cNvPr id="6" name="TextBox 5"/>
          <p:cNvSpPr txBox="1"/>
          <p:nvPr/>
        </p:nvSpPr>
        <p:spPr>
          <a:xfrm>
            <a:off x="658368" y="1325880"/>
            <a:ext cx="5760720" cy="4251960"/>
          </a:xfrm>
          <a:prstGeom prst="rect">
            <a:avLst/>
          </a:prstGeom>
          <a:noFill/>
        </p:spPr>
        <p:txBody>
          <a:bodyPr wrap="square" lIns="73152" rIns="54864">
            <a:spAutoFit/>
          </a:bodyPr>
          <a:lstStyle/>
          <a:p>
            <a:pPr>
              <a:spcAft>
                <a:spcPts val="1000"/>
              </a:spcAft>
              <a:defRPr sz="1500">
                <a:solidFill>
                  <a:srgbClr val="2D3A4A"/>
                </a:solidFill>
                <a:latin typeface="Aptos"/>
              </a:defRPr>
            </a:pPr>
            <a:r>
              <a:t>•  5% labeled: 61.67% accuracy</a:t>
            </a:r>
          </a:p>
          <a:p>
            <a:pPr>
              <a:spcAft>
                <a:spcPts val="1000"/>
              </a:spcAft>
              <a:defRPr sz="1500">
                <a:solidFill>
                  <a:srgbClr val="2D3A4A"/>
                </a:solidFill>
                <a:latin typeface="Aptos"/>
              </a:defRPr>
            </a:pPr>
            <a:r>
              <a:t>•  10% labeled: 65.00% accuracy</a:t>
            </a:r>
          </a:p>
          <a:p>
            <a:pPr>
              <a:spcAft>
                <a:spcPts val="1000"/>
              </a:spcAft>
              <a:defRPr sz="1500">
                <a:solidFill>
                  <a:srgbClr val="2D3A4A"/>
                </a:solidFill>
                <a:latin typeface="Aptos"/>
              </a:defRPr>
            </a:pPr>
            <a:r>
              <a:t>•  20% labeled: 73.67% accuracy</a:t>
            </a:r>
          </a:p>
          <a:p>
            <a:pPr>
              <a:spcAft>
                <a:spcPts val="1000"/>
              </a:spcAft>
              <a:defRPr sz="1500">
                <a:solidFill>
                  <a:srgbClr val="2D3A4A"/>
                </a:solidFill>
                <a:latin typeface="Aptos"/>
              </a:defRPr>
            </a:pPr>
            <a:r>
              <a:t>•  50% labeled: 72.00% accuracy</a:t>
            </a:r>
          </a:p>
          <a:p>
            <a:pPr>
              <a:spcAft>
                <a:spcPts val="1000"/>
              </a:spcAft>
              <a:defRPr sz="1500">
                <a:solidFill>
                  <a:srgbClr val="2D3A4A"/>
                </a:solidFill>
                <a:latin typeface="Aptos"/>
              </a:defRPr>
            </a:pPr>
            <a:r>
              <a:t>•  Peak reported accuracy is at 20%; non-monotonic results warrant repeated seeds and uncertainty-bin counts</a:t>
            </a:r>
          </a:p>
        </p:txBody>
      </p:sp>
      <p:cxnSp>
        <p:nvCxnSpPr>
          <p:cNvPr id="7" name="Connector 6"/>
          <p:cNvCxnSpPr/>
          <p:nvPr/>
        </p:nvCxnSpPr>
        <p:spPr>
          <a:xfrm>
            <a:off x="6812280" y="4251960"/>
            <a:ext cx="4251960" cy="0"/>
          </a:xfrm>
          <a:prstGeom prst="line">
            <a:avLst/>
          </a:prstGeom>
          <a:ln w="12700">
            <a:solidFill>
              <a:srgbClr val="66758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812280" y="1828800"/>
            <a:ext cx="0" cy="2423160"/>
          </a:xfrm>
          <a:prstGeom prst="line">
            <a:avLst/>
          </a:prstGeom>
          <a:ln w="12700">
            <a:solidFill>
              <a:srgbClr val="66758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7237476" y="3282696"/>
            <a:ext cx="425196" cy="322764"/>
          </a:xfrm>
          <a:prstGeom prst="line">
            <a:avLst/>
          </a:prstGeom>
          <a:ln w="25400">
            <a:solidFill>
              <a:srgbClr val="00B0B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7662672" y="2442344"/>
            <a:ext cx="850392" cy="840352"/>
          </a:xfrm>
          <a:prstGeom prst="line">
            <a:avLst/>
          </a:prstGeom>
          <a:ln w="25400">
            <a:solidFill>
              <a:srgbClr val="00B0B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513064" y="2442344"/>
            <a:ext cx="2551176" cy="161867"/>
          </a:xfrm>
          <a:prstGeom prst="line">
            <a:avLst/>
          </a:prstGeom>
          <a:ln w="25400">
            <a:solidFill>
              <a:srgbClr val="00B0BD"/>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7182612" y="3550596"/>
            <a:ext cx="109728" cy="10972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44868" y="3257988"/>
            <a:ext cx="658368" cy="228600"/>
          </a:xfrm>
          <a:prstGeom prst="rect">
            <a:avLst/>
          </a:prstGeom>
          <a:noFill/>
        </p:spPr>
        <p:txBody>
          <a:bodyPr wrap="square" lIns="45720" tIns="18288" rIns="45720" bIns="18288">
            <a:spAutoFit/>
          </a:bodyPr>
          <a:lstStyle/>
          <a:p>
            <a:pPr algn="ctr">
              <a:defRPr sz="900" b="1">
                <a:solidFill>
                  <a:srgbClr val="0E1D34"/>
                </a:solidFill>
                <a:latin typeface="Aptos"/>
              </a:defRPr>
            </a:pPr>
            <a:r>
              <a:t>61.67</a:t>
            </a:r>
          </a:p>
        </p:txBody>
      </p:sp>
      <p:sp>
        <p:nvSpPr>
          <p:cNvPr id="14" name="TextBox 13"/>
          <p:cNvSpPr txBox="1"/>
          <p:nvPr/>
        </p:nvSpPr>
        <p:spPr>
          <a:xfrm>
            <a:off x="7054596" y="4361688"/>
            <a:ext cx="502920" cy="228600"/>
          </a:xfrm>
          <a:prstGeom prst="rect">
            <a:avLst/>
          </a:prstGeom>
          <a:noFill/>
        </p:spPr>
        <p:txBody>
          <a:bodyPr wrap="square" lIns="45720" tIns="18288" rIns="45720" bIns="18288">
            <a:spAutoFit/>
          </a:bodyPr>
          <a:lstStyle/>
          <a:p>
            <a:pPr algn="ctr">
              <a:defRPr sz="900" b="1">
                <a:solidFill>
                  <a:srgbClr val="667584"/>
                </a:solidFill>
                <a:latin typeface="Aptos"/>
              </a:defRPr>
            </a:pPr>
            <a:r>
              <a:t>5%</a:t>
            </a:r>
          </a:p>
        </p:txBody>
      </p:sp>
      <p:sp>
        <p:nvSpPr>
          <p:cNvPr id="15" name="Oval 14"/>
          <p:cNvSpPr/>
          <p:nvPr/>
        </p:nvSpPr>
        <p:spPr>
          <a:xfrm>
            <a:off x="7607808" y="3227832"/>
            <a:ext cx="109728" cy="10972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70064" y="2935224"/>
            <a:ext cx="658368" cy="228600"/>
          </a:xfrm>
          <a:prstGeom prst="rect">
            <a:avLst/>
          </a:prstGeom>
          <a:noFill/>
        </p:spPr>
        <p:txBody>
          <a:bodyPr wrap="square" lIns="45720" tIns="18288" rIns="45720" bIns="18288">
            <a:spAutoFit/>
          </a:bodyPr>
          <a:lstStyle/>
          <a:p>
            <a:pPr algn="ctr">
              <a:defRPr sz="900" b="1">
                <a:solidFill>
                  <a:srgbClr val="0E1D34"/>
                </a:solidFill>
                <a:latin typeface="Aptos"/>
              </a:defRPr>
            </a:pPr>
            <a:r>
              <a:t>65.00</a:t>
            </a:r>
          </a:p>
        </p:txBody>
      </p:sp>
      <p:sp>
        <p:nvSpPr>
          <p:cNvPr id="17" name="TextBox 16"/>
          <p:cNvSpPr txBox="1"/>
          <p:nvPr/>
        </p:nvSpPr>
        <p:spPr>
          <a:xfrm>
            <a:off x="7479792" y="4361688"/>
            <a:ext cx="502920" cy="228600"/>
          </a:xfrm>
          <a:prstGeom prst="rect">
            <a:avLst/>
          </a:prstGeom>
          <a:noFill/>
        </p:spPr>
        <p:txBody>
          <a:bodyPr wrap="square" lIns="45720" tIns="18288" rIns="45720" bIns="18288">
            <a:spAutoFit/>
          </a:bodyPr>
          <a:lstStyle/>
          <a:p>
            <a:pPr algn="ctr">
              <a:defRPr sz="900" b="1">
                <a:solidFill>
                  <a:srgbClr val="667584"/>
                </a:solidFill>
                <a:latin typeface="Aptos"/>
              </a:defRPr>
            </a:pPr>
            <a:r>
              <a:t>10%</a:t>
            </a:r>
          </a:p>
        </p:txBody>
      </p:sp>
      <p:sp>
        <p:nvSpPr>
          <p:cNvPr id="18" name="Oval 17"/>
          <p:cNvSpPr/>
          <p:nvPr/>
        </p:nvSpPr>
        <p:spPr>
          <a:xfrm>
            <a:off x="8458200" y="2387480"/>
            <a:ext cx="109728" cy="10972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0456" y="2094872"/>
            <a:ext cx="658368" cy="228600"/>
          </a:xfrm>
          <a:prstGeom prst="rect">
            <a:avLst/>
          </a:prstGeom>
          <a:noFill/>
        </p:spPr>
        <p:txBody>
          <a:bodyPr wrap="square" lIns="45720" tIns="18288" rIns="45720" bIns="18288">
            <a:spAutoFit/>
          </a:bodyPr>
          <a:lstStyle/>
          <a:p>
            <a:pPr algn="ctr">
              <a:defRPr sz="900" b="1">
                <a:solidFill>
                  <a:srgbClr val="0E1D34"/>
                </a:solidFill>
                <a:latin typeface="Aptos"/>
              </a:defRPr>
            </a:pPr>
            <a:r>
              <a:t>73.67</a:t>
            </a:r>
          </a:p>
        </p:txBody>
      </p:sp>
      <p:sp>
        <p:nvSpPr>
          <p:cNvPr id="20" name="TextBox 19"/>
          <p:cNvSpPr txBox="1"/>
          <p:nvPr/>
        </p:nvSpPr>
        <p:spPr>
          <a:xfrm>
            <a:off x="8330184" y="4361688"/>
            <a:ext cx="502920" cy="228600"/>
          </a:xfrm>
          <a:prstGeom prst="rect">
            <a:avLst/>
          </a:prstGeom>
          <a:noFill/>
        </p:spPr>
        <p:txBody>
          <a:bodyPr wrap="square" lIns="45720" tIns="18288" rIns="45720" bIns="18288">
            <a:spAutoFit/>
          </a:bodyPr>
          <a:lstStyle/>
          <a:p>
            <a:pPr algn="ctr">
              <a:defRPr sz="900" b="1">
                <a:solidFill>
                  <a:srgbClr val="667584"/>
                </a:solidFill>
                <a:latin typeface="Aptos"/>
              </a:defRPr>
            </a:pPr>
            <a:r>
              <a:t>20%</a:t>
            </a:r>
          </a:p>
        </p:txBody>
      </p:sp>
      <p:sp>
        <p:nvSpPr>
          <p:cNvPr id="21" name="Oval 20"/>
          <p:cNvSpPr/>
          <p:nvPr/>
        </p:nvSpPr>
        <p:spPr>
          <a:xfrm>
            <a:off x="11009376" y="2549347"/>
            <a:ext cx="109728" cy="10972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71632" y="2256739"/>
            <a:ext cx="658368" cy="228600"/>
          </a:xfrm>
          <a:prstGeom prst="rect">
            <a:avLst/>
          </a:prstGeom>
          <a:noFill/>
        </p:spPr>
        <p:txBody>
          <a:bodyPr wrap="square" lIns="45720" tIns="18288" rIns="45720" bIns="18288">
            <a:spAutoFit/>
          </a:bodyPr>
          <a:lstStyle/>
          <a:p>
            <a:pPr algn="ctr">
              <a:defRPr sz="900" b="1">
                <a:solidFill>
                  <a:srgbClr val="0E1D34"/>
                </a:solidFill>
                <a:latin typeface="Aptos"/>
              </a:defRPr>
            </a:pPr>
            <a:r>
              <a:t>72.00</a:t>
            </a:r>
          </a:p>
        </p:txBody>
      </p:sp>
      <p:sp>
        <p:nvSpPr>
          <p:cNvPr id="23" name="TextBox 22"/>
          <p:cNvSpPr txBox="1"/>
          <p:nvPr/>
        </p:nvSpPr>
        <p:spPr>
          <a:xfrm>
            <a:off x="10881360" y="4361688"/>
            <a:ext cx="502920" cy="228600"/>
          </a:xfrm>
          <a:prstGeom prst="rect">
            <a:avLst/>
          </a:prstGeom>
          <a:noFill/>
        </p:spPr>
        <p:txBody>
          <a:bodyPr wrap="square" lIns="45720" tIns="18288" rIns="45720" bIns="18288">
            <a:spAutoFit/>
          </a:bodyPr>
          <a:lstStyle/>
          <a:p>
            <a:pPr algn="ctr">
              <a:defRPr sz="900" b="1">
                <a:solidFill>
                  <a:srgbClr val="667584"/>
                </a:solidFill>
                <a:latin typeface="Aptos"/>
              </a:defRPr>
            </a:pPr>
            <a:r>
              <a:t>50%</a:t>
            </a:r>
          </a:p>
        </p:txBody>
      </p:sp>
      <p:sp>
        <p:nvSpPr>
          <p:cNvPr id="24" name="TextBox 23"/>
          <p:cNvSpPr txBox="1"/>
          <p:nvPr/>
        </p:nvSpPr>
        <p:spPr>
          <a:xfrm>
            <a:off x="6812280" y="4736592"/>
            <a:ext cx="4297680" cy="320040"/>
          </a:xfrm>
          <a:prstGeom prst="rect">
            <a:avLst/>
          </a:prstGeom>
          <a:noFill/>
        </p:spPr>
        <p:txBody>
          <a:bodyPr wrap="square" lIns="45720" tIns="18288" rIns="45720" bIns="18288">
            <a:spAutoFit/>
          </a:bodyPr>
          <a:lstStyle/>
          <a:p>
            <a:pPr algn="ctr">
              <a:defRPr sz="1000" b="1">
                <a:solidFill>
                  <a:srgbClr val="667584"/>
                </a:solidFill>
                <a:latin typeface="Aptos"/>
              </a:defRPr>
            </a:pPr>
            <a:r>
              <a:t>Label fraction</a:t>
            </a:r>
          </a:p>
        </p:txBody>
      </p:sp>
      <p:sp>
        <p:nvSpPr>
          <p:cNvPr id="25" name="TextBox 24"/>
          <p:cNvSpPr txBox="1"/>
          <p:nvPr/>
        </p:nvSpPr>
        <p:spPr>
          <a:xfrm>
            <a:off x="6812280" y="5138928"/>
            <a:ext cx="4389120" cy="457200"/>
          </a:xfrm>
          <a:prstGeom prst="rect">
            <a:avLst/>
          </a:prstGeom>
          <a:noFill/>
        </p:spPr>
        <p:txBody>
          <a:bodyPr wrap="square" lIns="45720" tIns="18288" rIns="45720" bIns="18288">
            <a:spAutoFit/>
          </a:bodyPr>
          <a:lstStyle/>
          <a:p>
            <a:pPr>
              <a:defRPr sz="900" b="1">
                <a:solidFill>
                  <a:srgbClr val="CF4C4C"/>
                </a:solidFill>
                <a:latin typeface="Aptos"/>
              </a:defRPr>
            </a:pPr>
            <a:r>
              <a:t>30% value not supplied in prompt — verify before plotting.</a:t>
            </a:r>
          </a:p>
        </p:txBody>
      </p:sp>
      <p:sp>
        <p:nvSpPr>
          <p:cNvPr id="26" name="Rounded Rectangle 25"/>
          <p:cNvSpPr/>
          <p:nvPr/>
        </p:nvSpPr>
        <p:spPr>
          <a:xfrm>
            <a:off x="6583680" y="5559552"/>
            <a:ext cx="4663440" cy="566928"/>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29984" y="5650992"/>
            <a:ext cx="4370831" cy="402336"/>
          </a:xfrm>
          <a:prstGeom prst="rect">
            <a:avLst/>
          </a:prstGeom>
          <a:noFill/>
        </p:spPr>
        <p:txBody>
          <a:bodyPr wrap="square" lIns="45720" tIns="18288" rIns="45720" bIns="18288">
            <a:spAutoFit/>
          </a:bodyPr>
          <a:lstStyle/>
          <a:p>
            <a:pPr>
              <a:defRPr sz="1300" b="1">
                <a:solidFill>
                  <a:srgbClr val="FFFFFF"/>
                </a:solidFill>
                <a:latin typeface="Cambria Math"/>
              </a:defRPr>
            </a:pPr>
            <a:r>
              <a:t>CSI sensitivity: plot accuracy + confidence by uncertainty bin</a:t>
            </a:r>
          </a:p>
        </p:txBody>
      </p:sp>
      <p:pic>
        <p:nvPicPr>
          <p:cNvPr id="29" name="Picture 28">
            <a:extLst>
              <a:ext uri="{FF2B5EF4-FFF2-40B4-BE49-F238E27FC236}">
                <a16:creationId xmlns:a16="http://schemas.microsoft.com/office/drawing/2014/main" id="{06FFF6CC-0089-0989-C1C0-97D0F93F5859}"/>
              </a:ext>
            </a:extLst>
          </p:cNvPr>
          <p:cNvPicPr>
            <a:picLocks noChangeAspect="1"/>
          </p:cNvPicPr>
          <p:nvPr/>
        </p:nvPicPr>
        <p:blipFill>
          <a:blip r:embed="rId3"/>
          <a:stretch>
            <a:fillRect/>
          </a:stretch>
        </p:blipFill>
        <p:spPr>
          <a:xfrm>
            <a:off x="6359059" y="1080268"/>
            <a:ext cx="5295562" cy="505038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Visual Analytics: Dynamic User Graphs &amp; Scorecard</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16 / 18</a:t>
            </a:r>
          </a:p>
        </p:txBody>
      </p:sp>
      <p:sp>
        <p:nvSpPr>
          <p:cNvPr id="6" name="TextBox 5"/>
          <p:cNvSpPr txBox="1"/>
          <p:nvPr/>
        </p:nvSpPr>
        <p:spPr>
          <a:xfrm>
            <a:off x="658368" y="1325880"/>
            <a:ext cx="5669280" cy="4251960"/>
          </a:xfrm>
          <a:prstGeom prst="rect">
            <a:avLst/>
          </a:prstGeom>
          <a:noFill/>
        </p:spPr>
        <p:txBody>
          <a:bodyPr wrap="square" lIns="73152" rIns="54864">
            <a:spAutoFit/>
          </a:bodyPr>
          <a:lstStyle/>
          <a:p>
            <a:pPr>
              <a:spcAft>
                <a:spcPts val="1000"/>
              </a:spcAft>
              <a:defRPr sz="1500">
                <a:solidFill>
                  <a:srgbClr val="2D3A4A"/>
                </a:solidFill>
                <a:latin typeface="Aptos"/>
              </a:defRPr>
            </a:pPr>
            <a:r>
              <a:t>•  NetworkX visualization: node color = predicted group</a:t>
            </a:r>
          </a:p>
          <a:p>
            <a:pPr>
              <a:spcAft>
                <a:spcPts val="1000"/>
              </a:spcAft>
              <a:defRPr sz="1500">
                <a:solidFill>
                  <a:srgbClr val="2D3A4A"/>
                </a:solidFill>
                <a:latin typeface="Aptos"/>
              </a:defRPr>
            </a:pPr>
            <a:r>
              <a:t>•  Node size encodes CSI uncertainty magnitude; edge thickness encodes similarity</a:t>
            </a:r>
          </a:p>
          <a:p>
            <a:pPr>
              <a:spcAft>
                <a:spcPts val="1000"/>
              </a:spcAft>
              <a:defRPr sz="1500">
                <a:solidFill>
                  <a:srgbClr val="2D3A4A"/>
                </a:solidFill>
                <a:latin typeface="Aptos"/>
              </a:defRPr>
            </a:pPr>
            <a:r>
              <a:t>•  On-canvas scorecard summarizes accuracy, precision, recall, and F1</a:t>
            </a:r>
          </a:p>
          <a:p>
            <a:pPr>
              <a:spcAft>
                <a:spcPts val="1000"/>
              </a:spcAft>
              <a:defRPr sz="1500">
                <a:solidFill>
                  <a:srgbClr val="2D3A4A"/>
                </a:solidFill>
                <a:latin typeface="Aptos"/>
              </a:defRPr>
            </a:pPr>
            <a:r>
              <a:t>•  Visuals help inspect group structure, ambiguous boundaries, and potentially noisy nodes</a:t>
            </a:r>
          </a:p>
          <a:p>
            <a:pPr>
              <a:spcAft>
                <a:spcPts val="1000"/>
              </a:spcAft>
              <a:defRPr sz="1500">
                <a:solidFill>
                  <a:srgbClr val="2D3A4A"/>
                </a:solidFill>
                <a:latin typeface="Aptos"/>
              </a:defRPr>
            </a:pPr>
            <a:r>
              <a:t>•  Graph visualization is diagnostic; it does not independently validate physical-layer feasibility</a:t>
            </a:r>
          </a:p>
        </p:txBody>
      </p:sp>
      <p:cxnSp>
        <p:nvCxnSpPr>
          <p:cNvPr id="7" name="Connector 6"/>
          <p:cNvCxnSpPr/>
          <p:nvPr/>
        </p:nvCxnSpPr>
        <p:spPr>
          <a:xfrm flipV="1">
            <a:off x="7315200" y="1508760"/>
            <a:ext cx="1005840" cy="320040"/>
          </a:xfrm>
          <a:prstGeom prst="line">
            <a:avLst/>
          </a:prstGeom>
          <a:ln w="25400">
            <a:solidFill>
              <a:srgbClr val="D3DFE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321040" y="1508760"/>
            <a:ext cx="914400" cy="411480"/>
          </a:xfrm>
          <a:prstGeom prst="line">
            <a:avLst/>
          </a:prstGeom>
          <a:ln w="25400">
            <a:solidFill>
              <a:srgbClr val="D3DFE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15200" y="1828800"/>
            <a:ext cx="411479" cy="1051560"/>
          </a:xfrm>
          <a:prstGeom prst="line">
            <a:avLst/>
          </a:prstGeom>
          <a:ln w="25400">
            <a:solidFill>
              <a:srgbClr val="D3DFE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21040" y="1508760"/>
            <a:ext cx="411480" cy="1417320"/>
          </a:xfrm>
          <a:prstGeom prst="line">
            <a:avLst/>
          </a:prstGeom>
          <a:ln w="25400">
            <a:solidFill>
              <a:srgbClr val="D3D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235440" y="1920240"/>
            <a:ext cx="502920" cy="1143000"/>
          </a:xfrm>
          <a:prstGeom prst="line">
            <a:avLst/>
          </a:prstGeom>
          <a:ln w="25400">
            <a:solidFill>
              <a:srgbClr val="D3D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26679" y="2880360"/>
            <a:ext cx="1005841" cy="45720"/>
          </a:xfrm>
          <a:prstGeom prst="line">
            <a:avLst/>
          </a:prstGeom>
          <a:ln w="25400">
            <a:solidFill>
              <a:srgbClr val="D3D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32520" y="2926080"/>
            <a:ext cx="1005840" cy="137160"/>
          </a:xfrm>
          <a:prstGeom prst="line">
            <a:avLst/>
          </a:prstGeom>
          <a:ln w="25400">
            <a:solidFill>
              <a:srgbClr val="D3D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26679" y="2880360"/>
            <a:ext cx="228600" cy="1097279"/>
          </a:xfrm>
          <a:prstGeom prst="line">
            <a:avLst/>
          </a:prstGeom>
          <a:ln w="25400">
            <a:solidFill>
              <a:srgbClr val="D3D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7955279" y="2926080"/>
            <a:ext cx="777241" cy="1051559"/>
          </a:xfrm>
          <a:prstGeom prst="line">
            <a:avLst/>
          </a:prstGeom>
          <a:ln w="25400">
            <a:solidFill>
              <a:srgbClr val="D3D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732520" y="2926080"/>
            <a:ext cx="411480" cy="1097280"/>
          </a:xfrm>
          <a:prstGeom prst="line">
            <a:avLst/>
          </a:prstGeom>
          <a:ln w="25400">
            <a:solidFill>
              <a:srgbClr val="D3D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0" y="3063240"/>
            <a:ext cx="594360" cy="960120"/>
          </a:xfrm>
          <a:prstGeom prst="line">
            <a:avLst/>
          </a:prstGeom>
          <a:ln w="25400">
            <a:solidFill>
              <a:srgbClr val="D3DFEB"/>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7205472" y="1719072"/>
            <a:ext cx="219456" cy="219456"/>
          </a:xfrm>
          <a:prstGeom prst="ellipse">
            <a:avLst/>
          </a:prstGeom>
          <a:solidFill>
            <a:srgbClr val="1F5CA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211312" y="1399031"/>
            <a:ext cx="219456" cy="219456"/>
          </a:xfrm>
          <a:prstGeom prst="ellipse">
            <a:avLst/>
          </a:prstGeom>
          <a:solidFill>
            <a:srgbClr val="1F5CA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125712" y="1810512"/>
            <a:ext cx="219456" cy="219456"/>
          </a:xfrm>
          <a:prstGeom prst="ellipse">
            <a:avLst/>
          </a:prstGeom>
          <a:solidFill>
            <a:srgbClr val="00B0B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7616952" y="2770632"/>
            <a:ext cx="219456" cy="219456"/>
          </a:xfrm>
          <a:prstGeom prst="ellipse">
            <a:avLst/>
          </a:prstGeom>
          <a:solidFill>
            <a:srgbClr val="11827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622792" y="2816352"/>
            <a:ext cx="219456" cy="219456"/>
          </a:xfrm>
          <a:prstGeom prst="ellipse">
            <a:avLst/>
          </a:prstGeom>
          <a:solidFill>
            <a:srgbClr val="11827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628632" y="2953512"/>
            <a:ext cx="219456" cy="219456"/>
          </a:xfrm>
          <a:prstGeom prst="ellipse">
            <a:avLst/>
          </a:prstGeom>
          <a:solidFill>
            <a:srgbClr val="F5B73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845552" y="3867911"/>
            <a:ext cx="219456" cy="219456"/>
          </a:xfrm>
          <a:prstGeom prst="ellipse">
            <a:avLst/>
          </a:prstGeom>
          <a:solidFill>
            <a:srgbClr val="1F5CA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034272" y="3913632"/>
            <a:ext cx="219456" cy="219456"/>
          </a:xfrm>
          <a:prstGeom prst="ellipse">
            <a:avLst/>
          </a:prstGeom>
          <a:solidFill>
            <a:srgbClr val="F5B73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875520" y="1508760"/>
            <a:ext cx="1600200" cy="2011680"/>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985248" y="1664208"/>
            <a:ext cx="1371600" cy="228600"/>
          </a:xfrm>
          <a:prstGeom prst="rect">
            <a:avLst/>
          </a:prstGeom>
          <a:noFill/>
        </p:spPr>
        <p:txBody>
          <a:bodyPr wrap="square" lIns="45720" tIns="18288" rIns="45720" bIns="18288">
            <a:spAutoFit/>
          </a:bodyPr>
          <a:lstStyle/>
          <a:p>
            <a:pPr algn="ctr">
              <a:defRPr sz="1000" b="1">
                <a:solidFill>
                  <a:srgbClr val="00B0BD"/>
                </a:solidFill>
                <a:latin typeface="Aptos"/>
              </a:defRPr>
            </a:pPr>
            <a:r>
              <a:t>METRICS</a:t>
            </a:r>
          </a:p>
        </p:txBody>
      </p:sp>
      <p:sp>
        <p:nvSpPr>
          <p:cNvPr id="28" name="TextBox 27"/>
          <p:cNvSpPr txBox="1"/>
          <p:nvPr/>
        </p:nvSpPr>
        <p:spPr>
          <a:xfrm>
            <a:off x="9994392" y="1965960"/>
            <a:ext cx="1325880" cy="228600"/>
          </a:xfrm>
          <a:prstGeom prst="rect">
            <a:avLst/>
          </a:prstGeom>
          <a:noFill/>
        </p:spPr>
        <p:txBody>
          <a:bodyPr wrap="square" lIns="45720" tIns="18288" rIns="45720" bIns="18288">
            <a:spAutoFit/>
          </a:bodyPr>
          <a:lstStyle/>
          <a:p>
            <a:pPr>
              <a:defRPr sz="900" b="1">
                <a:solidFill>
                  <a:srgbClr val="FFFFFF"/>
                </a:solidFill>
                <a:latin typeface="Aptos"/>
              </a:defRPr>
            </a:pPr>
            <a:r>
              <a:t>Acc: 75.60%</a:t>
            </a:r>
          </a:p>
        </p:txBody>
      </p:sp>
      <p:sp>
        <p:nvSpPr>
          <p:cNvPr id="29" name="TextBox 28"/>
          <p:cNvSpPr txBox="1"/>
          <p:nvPr/>
        </p:nvSpPr>
        <p:spPr>
          <a:xfrm>
            <a:off x="9994392" y="2295144"/>
            <a:ext cx="1325880" cy="228600"/>
          </a:xfrm>
          <a:prstGeom prst="rect">
            <a:avLst/>
          </a:prstGeom>
          <a:noFill/>
        </p:spPr>
        <p:txBody>
          <a:bodyPr wrap="square" lIns="45720" tIns="18288" rIns="45720" bIns="18288">
            <a:spAutoFit/>
          </a:bodyPr>
          <a:lstStyle/>
          <a:p>
            <a:pPr>
              <a:defRPr sz="900" b="1">
                <a:solidFill>
                  <a:srgbClr val="FFFFFF"/>
                </a:solidFill>
                <a:latin typeface="Aptos"/>
              </a:defRPr>
            </a:pPr>
            <a:r>
              <a:t>Prec: 75.71%</a:t>
            </a:r>
          </a:p>
        </p:txBody>
      </p:sp>
      <p:sp>
        <p:nvSpPr>
          <p:cNvPr id="30" name="TextBox 29"/>
          <p:cNvSpPr txBox="1"/>
          <p:nvPr/>
        </p:nvSpPr>
        <p:spPr>
          <a:xfrm>
            <a:off x="9994392" y="2624328"/>
            <a:ext cx="1325880" cy="228600"/>
          </a:xfrm>
          <a:prstGeom prst="rect">
            <a:avLst/>
          </a:prstGeom>
          <a:noFill/>
        </p:spPr>
        <p:txBody>
          <a:bodyPr wrap="square" lIns="45720" tIns="18288" rIns="45720" bIns="18288">
            <a:spAutoFit/>
          </a:bodyPr>
          <a:lstStyle/>
          <a:p>
            <a:pPr>
              <a:defRPr sz="900" b="1">
                <a:solidFill>
                  <a:srgbClr val="FFFFFF"/>
                </a:solidFill>
                <a:latin typeface="Aptos"/>
              </a:defRPr>
            </a:pPr>
            <a:r>
              <a:t>Recall: 75.60%</a:t>
            </a:r>
          </a:p>
        </p:txBody>
      </p:sp>
      <p:sp>
        <p:nvSpPr>
          <p:cNvPr id="31" name="TextBox 30"/>
          <p:cNvSpPr txBox="1"/>
          <p:nvPr/>
        </p:nvSpPr>
        <p:spPr>
          <a:xfrm>
            <a:off x="9994392" y="2953512"/>
            <a:ext cx="1325880" cy="228600"/>
          </a:xfrm>
          <a:prstGeom prst="rect">
            <a:avLst/>
          </a:prstGeom>
          <a:noFill/>
        </p:spPr>
        <p:txBody>
          <a:bodyPr wrap="square" lIns="45720" tIns="18288" rIns="45720" bIns="18288">
            <a:spAutoFit/>
          </a:bodyPr>
          <a:lstStyle/>
          <a:p>
            <a:pPr>
              <a:defRPr sz="900" b="1">
                <a:solidFill>
                  <a:srgbClr val="FFFFFF"/>
                </a:solidFill>
                <a:latin typeface="Aptos"/>
              </a:defRPr>
            </a:pPr>
            <a:r>
              <a:t>F1: 75.31%</a:t>
            </a:r>
          </a:p>
        </p:txBody>
      </p:sp>
      <p:sp>
        <p:nvSpPr>
          <p:cNvPr id="32" name="Rounded Rectangle 31"/>
          <p:cNvSpPr/>
          <p:nvPr/>
        </p:nvSpPr>
        <p:spPr>
          <a:xfrm>
            <a:off x="6583680" y="4892040"/>
            <a:ext cx="4754880" cy="777240"/>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29984" y="4983479"/>
            <a:ext cx="4462272" cy="612647"/>
          </a:xfrm>
          <a:prstGeom prst="rect">
            <a:avLst/>
          </a:prstGeom>
          <a:noFill/>
        </p:spPr>
        <p:txBody>
          <a:bodyPr wrap="square" lIns="45720" tIns="18288" rIns="45720" bIns="18288">
            <a:spAutoFit/>
          </a:bodyPr>
          <a:lstStyle/>
          <a:p>
            <a:pPr>
              <a:defRPr sz="1300" b="1">
                <a:solidFill>
                  <a:srgbClr val="FFFFFF"/>
                </a:solidFill>
                <a:latin typeface="Cambria Math"/>
              </a:defRPr>
            </a:pPr>
            <a:r>
              <a:t>Node i: color(ŷᵢ), size ∝ uᵢ; edge (i,j): width ∝ wᵢⱼ</a:t>
            </a:r>
          </a:p>
        </p:txBody>
      </p:sp>
      <p:pic>
        <p:nvPicPr>
          <p:cNvPr id="37" name="Picture 36">
            <a:extLst>
              <a:ext uri="{FF2B5EF4-FFF2-40B4-BE49-F238E27FC236}">
                <a16:creationId xmlns:a16="http://schemas.microsoft.com/office/drawing/2014/main" id="{0DF4AF78-9A3E-3BB6-E413-2486CDF78F0C}"/>
              </a:ext>
            </a:extLst>
          </p:cNvPr>
          <p:cNvPicPr>
            <a:picLocks noChangeAspect="1"/>
          </p:cNvPicPr>
          <p:nvPr/>
        </p:nvPicPr>
        <p:blipFill>
          <a:blip r:embed="rId3"/>
          <a:stretch>
            <a:fillRect/>
          </a:stretch>
        </p:blipFill>
        <p:spPr>
          <a:xfrm>
            <a:off x="5929423" y="1089321"/>
            <a:ext cx="6278156" cy="46634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Node Embedding Space &amp; Output Artifacts</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17 / 18</a:t>
            </a:r>
          </a:p>
        </p:txBody>
      </p:sp>
      <p:sp>
        <p:nvSpPr>
          <p:cNvPr id="6" name="TextBox 5"/>
          <p:cNvSpPr txBox="1"/>
          <p:nvPr/>
        </p:nvSpPr>
        <p:spPr>
          <a:xfrm>
            <a:off x="658368" y="1325880"/>
            <a:ext cx="5760720" cy="4251960"/>
          </a:xfrm>
          <a:prstGeom prst="rect">
            <a:avLst/>
          </a:prstGeom>
          <a:noFill/>
        </p:spPr>
        <p:txBody>
          <a:bodyPr wrap="square" lIns="73152" rIns="54864">
            <a:spAutoFit/>
          </a:bodyPr>
          <a:lstStyle/>
          <a:p>
            <a:pPr>
              <a:spcAft>
                <a:spcPts val="1000"/>
              </a:spcAft>
              <a:defRPr sz="1500">
                <a:solidFill>
                  <a:srgbClr val="2D3A4A"/>
                </a:solidFill>
                <a:latin typeface="Aptos"/>
              </a:defRPr>
            </a:pPr>
            <a:r>
              <a:t>•  PCA and t-SNE project learned node embeddings into two dimensions</a:t>
            </a:r>
          </a:p>
          <a:p>
            <a:pPr>
              <a:spcAft>
                <a:spcPts val="1000"/>
              </a:spcAft>
              <a:defRPr sz="1500">
                <a:solidFill>
                  <a:srgbClr val="2D3A4A"/>
                </a:solidFill>
                <a:latin typeface="Aptos"/>
              </a:defRPr>
            </a:pPr>
            <a:r>
              <a:t>•  Inspect class separation, overlap, and ambiguous boundaries</a:t>
            </a:r>
          </a:p>
          <a:p>
            <a:pPr>
              <a:spcAft>
                <a:spcPts val="1000"/>
              </a:spcAft>
              <a:defRPr sz="1500">
                <a:solidFill>
                  <a:srgbClr val="2D3A4A"/>
                </a:solidFill>
                <a:latin typeface="Aptos"/>
              </a:defRPr>
            </a:pPr>
            <a:r>
              <a:t>•  Artifacts: predicted_groups.csv, confusion_matrix.csv, per_group_metrics.csv, metrics_summary.csv</a:t>
            </a:r>
          </a:p>
          <a:p>
            <a:pPr>
              <a:spcAft>
                <a:spcPts val="1000"/>
              </a:spcAft>
              <a:defRPr sz="1500">
                <a:solidFill>
                  <a:srgbClr val="2D3A4A"/>
                </a:solidFill>
                <a:latin typeface="Aptos"/>
              </a:defRPr>
            </a:pPr>
            <a:r>
              <a:t>•  Additional artifacts: node_embeddings.csv, graph_edges.csv, predicted_graph.graphml</a:t>
            </a:r>
          </a:p>
          <a:p>
            <a:pPr>
              <a:spcAft>
                <a:spcPts val="1000"/>
              </a:spcAft>
              <a:defRPr sz="1500">
                <a:solidFill>
                  <a:srgbClr val="2D3A4A"/>
                </a:solidFill>
                <a:latin typeface="Aptos"/>
              </a:defRPr>
            </a:pPr>
            <a:r>
              <a:t>•  Keep user/scenario IDs and class mapping consistent across all exports</a:t>
            </a:r>
          </a:p>
        </p:txBody>
      </p:sp>
      <p:sp>
        <p:nvSpPr>
          <p:cNvPr id="7" name="Oval 6"/>
          <p:cNvSpPr/>
          <p:nvPr/>
        </p:nvSpPr>
        <p:spPr>
          <a:xfrm>
            <a:off x="7428752" y="2430127"/>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869824" y="2032972"/>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674301" y="2351420"/>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568965" y="1895127"/>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930814" y="2105592"/>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654474" y="2004366"/>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408252" y="2054332"/>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754990" y="2536511"/>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307656" y="2577415"/>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966275" y="2434673"/>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784148" y="1926429"/>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613409" y="2239794"/>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864486" y="1971819"/>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446836" y="2488323"/>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7546223" y="2048006"/>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986061" y="2532350"/>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380587" y="2575786"/>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046154" y="2434362"/>
            <a:ext cx="64008" cy="64008"/>
          </a:xfrm>
          <a:prstGeom prst="ellipse">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819128" y="2151381"/>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018938" y="1730631"/>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052970" y="2022386"/>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357712" y="2181744"/>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378018" y="2039546"/>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873856" y="1628285"/>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561068" y="2180121"/>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530994" y="1721042"/>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269760" y="2048836"/>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8194873" y="1908602"/>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8559790" y="1869878"/>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131242" y="1950593"/>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8922881" y="1689681"/>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335012" y="2142982"/>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8582722" y="1654117"/>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010820" y="2023335"/>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8351036" y="1803574"/>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8275094" y="1931035"/>
            <a:ext cx="64008" cy="64008"/>
          </a:xfrm>
          <a:prstGeom prst="ellipse">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0014401" y="2597098"/>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356627" y="3117101"/>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196515" y="2375021"/>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9848639" y="2886064"/>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9686526" y="2921122"/>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0246580" y="2812441"/>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9675020" y="2509428"/>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9534046" y="2474982"/>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9392212" y="2522287"/>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10128101" y="2771602"/>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0090796" y="3065943"/>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0096679" y="2397128"/>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0212526" y="2430425"/>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0056628" y="3003541"/>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9942450" y="2669219"/>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9356615" y="2424558"/>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9921379" y="2544804"/>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9816550" y="2562871"/>
            <a:ext cx="64008" cy="64008"/>
          </a:xfrm>
          <a:prstGeom prst="ellipse">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8256803" y="3500323"/>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8821540" y="3647471"/>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8487503" y="3647217"/>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8649659" y="3669634"/>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8540098" y="4016597"/>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8848562" y="3449492"/>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8412543" y="3418568"/>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8458658" y="3295349"/>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8841290" y="3709745"/>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8517589" y="3959797"/>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8423106" y="3717960"/>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9027626" y="3700505"/>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8708995" y="3556175"/>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9096366" y="3853297"/>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8397556" y="3546622"/>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8687403" y="3671914"/>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8618802" y="3421095"/>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8671504" y="3814250"/>
            <a:ext cx="64008" cy="64008"/>
          </a:xfrm>
          <a:prstGeom prst="ellipse">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903720" y="4389120"/>
            <a:ext cx="4526280" cy="320040"/>
          </a:xfrm>
          <a:prstGeom prst="rect">
            <a:avLst/>
          </a:prstGeom>
          <a:noFill/>
        </p:spPr>
        <p:txBody>
          <a:bodyPr wrap="square" lIns="45720" tIns="18288" rIns="45720" bIns="18288">
            <a:spAutoFit/>
          </a:bodyPr>
          <a:lstStyle/>
          <a:p>
            <a:pPr algn="ctr">
              <a:defRPr sz="900" b="1">
                <a:solidFill>
                  <a:srgbClr val="CF4C4C"/>
                </a:solidFill>
                <a:latin typeface="Aptos"/>
              </a:defRPr>
            </a:pPr>
            <a:r>
              <a:t>Illustrative embedding layout — replace with actual PCA/t-SNE outputs</a:t>
            </a:r>
          </a:p>
        </p:txBody>
      </p:sp>
      <p:sp>
        <p:nvSpPr>
          <p:cNvPr id="80" name="Rounded Rectangle 79"/>
          <p:cNvSpPr/>
          <p:nvPr/>
        </p:nvSpPr>
        <p:spPr>
          <a:xfrm>
            <a:off x="6537960" y="5074920"/>
            <a:ext cx="4754880" cy="731520"/>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6684264" y="5166359"/>
            <a:ext cx="4462272" cy="566928"/>
          </a:xfrm>
          <a:prstGeom prst="rect">
            <a:avLst/>
          </a:prstGeom>
          <a:noFill/>
        </p:spPr>
        <p:txBody>
          <a:bodyPr wrap="square" lIns="45720" tIns="18288" rIns="45720" bIns="18288">
            <a:spAutoFit/>
          </a:bodyPr>
          <a:lstStyle/>
          <a:p>
            <a:pPr>
              <a:defRPr sz="1300" b="1">
                <a:solidFill>
                  <a:srgbClr val="FFFFFF"/>
                </a:solidFill>
                <a:latin typeface="Cambria Math"/>
              </a:defRPr>
            </a:pPr>
            <a:r>
              <a:t>H ∈ ℝ^(N×D) → PCA/t-SNE → Z₂D ∈ ℝ^(N×2)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10972800" cy="566928"/>
          </a:xfrm>
          <a:prstGeom prst="rect">
            <a:avLst/>
          </a:prstGeom>
          <a:noFill/>
        </p:spPr>
        <p:txBody>
          <a:bodyPr wrap="square" lIns="45720" tIns="18288" rIns="45720" bIns="18288">
            <a:spAutoFit/>
          </a:bodyPr>
          <a:lstStyle/>
          <a:p>
            <a:pPr>
              <a:defRPr sz="2600" b="1">
                <a:solidFill>
                  <a:srgbClr val="0E1D34"/>
                </a:solidFill>
                <a:latin typeface="Aptos"/>
              </a:defRPr>
            </a:pPr>
            <a:r>
              <a:t>Summary, Next Steps &amp; Future Roadmap</a:t>
            </a:r>
          </a:p>
        </p:txBody>
      </p:sp>
      <p:sp>
        <p:nvSpPr>
          <p:cNvPr id="3" name="Rectangle 2"/>
          <p:cNvSpPr/>
          <p:nvPr/>
        </p:nvSpPr>
        <p:spPr>
          <a:xfrm>
            <a:off x="566928" y="987552"/>
            <a:ext cx="914400" cy="50292"/>
          </a:xfrm>
          <a:prstGeom prst="rect">
            <a:avLst/>
          </a:prstGeom>
          <a:solidFill>
            <a:srgbClr val="00B0BD"/>
          </a:solidFill>
          <a:ln>
            <a:solidFill>
              <a:srgbClr val="00B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28816"/>
            <a:ext cx="8961120" cy="182880"/>
          </a:xfrm>
          <a:prstGeom prst="rect">
            <a:avLst/>
          </a:prstGeom>
          <a:noFill/>
        </p:spPr>
        <p:txBody>
          <a:bodyPr wrap="square" lIns="45720" tIns="18288" rIns="45720" bIns="18288">
            <a:spAutoFit/>
          </a:bodyPr>
          <a:lstStyle/>
          <a:p>
            <a:pPr>
              <a:defRPr sz="800" b="0">
                <a:solidFill>
                  <a:srgbClr val="667584"/>
                </a:solidFill>
                <a:latin typeface="Aptos"/>
              </a:defRPr>
            </a:pPr>
            <a:r>
              <a:t>UNCERTAINTY-AWARE GNN  |  TECHNICAL PROJECT PRESENTATION</a:t>
            </a:r>
          </a:p>
        </p:txBody>
      </p:sp>
      <p:sp>
        <p:nvSpPr>
          <p:cNvPr id="5" name="TextBox 4"/>
          <p:cNvSpPr txBox="1"/>
          <p:nvPr/>
        </p:nvSpPr>
        <p:spPr>
          <a:xfrm>
            <a:off x="11109960" y="6492240"/>
            <a:ext cx="502920" cy="228600"/>
          </a:xfrm>
          <a:prstGeom prst="rect">
            <a:avLst/>
          </a:prstGeom>
          <a:noFill/>
        </p:spPr>
        <p:txBody>
          <a:bodyPr wrap="square" lIns="45720" tIns="18288" rIns="45720" bIns="18288">
            <a:spAutoFit/>
          </a:bodyPr>
          <a:lstStyle/>
          <a:p>
            <a:pPr algn="r">
              <a:defRPr sz="900" b="0">
                <a:solidFill>
                  <a:srgbClr val="667584"/>
                </a:solidFill>
                <a:latin typeface="Aptos"/>
              </a:defRPr>
            </a:pPr>
            <a:r>
              <a:t>18 / 18</a:t>
            </a:r>
          </a:p>
        </p:txBody>
      </p:sp>
      <p:sp>
        <p:nvSpPr>
          <p:cNvPr id="6" name="TextBox 5"/>
          <p:cNvSpPr txBox="1"/>
          <p:nvPr/>
        </p:nvSpPr>
        <p:spPr>
          <a:xfrm>
            <a:off x="658368" y="1325880"/>
            <a:ext cx="5669280" cy="4251960"/>
          </a:xfrm>
          <a:prstGeom prst="rect">
            <a:avLst/>
          </a:prstGeom>
          <a:noFill/>
        </p:spPr>
        <p:txBody>
          <a:bodyPr wrap="square" lIns="73152" rIns="54864">
            <a:spAutoFit/>
          </a:bodyPr>
          <a:lstStyle/>
          <a:p>
            <a:pPr>
              <a:spcAft>
                <a:spcPts val="1000"/>
              </a:spcAft>
              <a:defRPr sz="1500">
                <a:solidFill>
                  <a:srgbClr val="2D3A4A"/>
                </a:solidFill>
                <a:latin typeface="Aptos"/>
              </a:defRPr>
            </a:pPr>
            <a:r>
              <a:t>•  Established an uncertainty-aware semi-supervised GNN pipeline for four-group user assignment</a:t>
            </a:r>
          </a:p>
          <a:p>
            <a:pPr>
              <a:spcAft>
                <a:spcPts val="1000"/>
              </a:spcAft>
              <a:defRPr sz="1500">
                <a:solidFill>
                  <a:srgbClr val="2D3A4A"/>
                </a:solidFill>
                <a:latin typeface="Aptos"/>
              </a:defRPr>
            </a:pPr>
            <a:r>
              <a:t>•  Reported 75.60% test accuracy and 75.31% macro-F1; Groups 2–3 are the main error region</a:t>
            </a:r>
          </a:p>
          <a:p>
            <a:pPr>
              <a:spcAft>
                <a:spcPts val="1000"/>
              </a:spcAft>
              <a:defRPr sz="1500">
                <a:solidFill>
                  <a:srgbClr val="2D3A4A"/>
                </a:solidFill>
                <a:latin typeface="Aptos"/>
              </a:defRPr>
            </a:pPr>
            <a:r>
              <a:t>•  Next: repeated-seed confidence intervals, ablations, calibration, and uncertainty-bin analysis</a:t>
            </a:r>
          </a:p>
          <a:p>
            <a:pPr>
              <a:spcAft>
                <a:spcPts val="1000"/>
              </a:spcAft>
              <a:defRPr sz="1500">
                <a:solidFill>
                  <a:srgbClr val="2D3A4A"/>
                </a:solidFill>
                <a:latin typeface="Aptos"/>
              </a:defRPr>
            </a:pPr>
            <a:r>
              <a:t>•  Then integrate group outputs with power allocation and SIC feasibility checks</a:t>
            </a:r>
          </a:p>
          <a:p>
            <a:pPr>
              <a:spcAft>
                <a:spcPts val="1000"/>
              </a:spcAft>
              <a:defRPr sz="1500">
                <a:solidFill>
                  <a:srgbClr val="2D3A4A"/>
                </a:solidFill>
                <a:latin typeface="Aptos"/>
              </a:defRPr>
            </a:pPr>
            <a:r>
              <a:t>•  Finally evaluate SINR, BER/reliability, and sum-rate under explicit channel and receiver assumptions</a:t>
            </a:r>
          </a:p>
        </p:txBody>
      </p:sp>
      <p:sp>
        <p:nvSpPr>
          <p:cNvPr id="7" name="Rounded Rectangle 6"/>
          <p:cNvSpPr/>
          <p:nvPr/>
        </p:nvSpPr>
        <p:spPr>
          <a:xfrm>
            <a:off x="6537960" y="2011680"/>
            <a:ext cx="1417320" cy="1463040"/>
          </a:xfrm>
          <a:prstGeom prst="roundRect">
            <a:avLst/>
          </a:prstGeom>
          <a:solidFill>
            <a:srgbClr val="1F5CA0"/>
          </a:solidFill>
          <a:ln>
            <a:solidFill>
              <a:srgbClr val="1F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1112" y="2240280"/>
            <a:ext cx="1271016" cy="228600"/>
          </a:xfrm>
          <a:prstGeom prst="rect">
            <a:avLst/>
          </a:prstGeom>
          <a:noFill/>
        </p:spPr>
        <p:txBody>
          <a:bodyPr wrap="square" lIns="45720" tIns="18288" rIns="45720" bIns="18288">
            <a:spAutoFit/>
          </a:bodyPr>
          <a:lstStyle/>
          <a:p>
            <a:pPr algn="ctr">
              <a:defRPr sz="1000" b="1">
                <a:solidFill>
                  <a:srgbClr val="FFFFFF"/>
                </a:solidFill>
                <a:latin typeface="Aptos"/>
              </a:defRPr>
            </a:pPr>
            <a:r>
              <a:t>PHASE 1</a:t>
            </a:r>
          </a:p>
        </p:txBody>
      </p:sp>
      <p:sp>
        <p:nvSpPr>
          <p:cNvPr id="9" name="TextBox 8"/>
          <p:cNvSpPr txBox="1"/>
          <p:nvPr/>
        </p:nvSpPr>
        <p:spPr>
          <a:xfrm>
            <a:off x="6611112" y="2606040"/>
            <a:ext cx="1271016" cy="594360"/>
          </a:xfrm>
          <a:prstGeom prst="rect">
            <a:avLst/>
          </a:prstGeom>
          <a:noFill/>
        </p:spPr>
        <p:txBody>
          <a:bodyPr wrap="square" lIns="45720" tIns="18288" rIns="45720" bIns="18288">
            <a:spAutoFit/>
          </a:bodyPr>
          <a:lstStyle/>
          <a:p>
            <a:pPr algn="ctr">
              <a:defRPr sz="1100" b="1">
                <a:solidFill>
                  <a:srgbClr val="FFFFFF"/>
                </a:solidFill>
                <a:latin typeface="Aptos"/>
              </a:defRPr>
            </a:pPr>
            <a:r>
              <a:t>ML validation</a:t>
            </a:r>
          </a:p>
        </p:txBody>
      </p:sp>
      <p:cxnSp>
        <p:nvCxnSpPr>
          <p:cNvPr id="10" name="Connector 9"/>
          <p:cNvCxnSpPr/>
          <p:nvPr/>
        </p:nvCxnSpPr>
        <p:spPr>
          <a:xfrm>
            <a:off x="7955280" y="2743200"/>
            <a:ext cx="210312" cy="0"/>
          </a:xfrm>
          <a:prstGeom prst="line">
            <a:avLst/>
          </a:prstGeom>
          <a:ln w="25400">
            <a:solidFill>
              <a:srgbClr val="667584"/>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183880" y="2011680"/>
            <a:ext cx="1417320" cy="1463040"/>
          </a:xfrm>
          <a:prstGeom prst="roundRect">
            <a:avLst/>
          </a:prstGeom>
          <a:solidFill>
            <a:srgbClr val="11827F"/>
          </a:solidFill>
          <a:ln>
            <a:solidFill>
              <a:srgbClr val="1182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57032" y="2240280"/>
            <a:ext cx="1271016" cy="228600"/>
          </a:xfrm>
          <a:prstGeom prst="rect">
            <a:avLst/>
          </a:prstGeom>
          <a:noFill/>
        </p:spPr>
        <p:txBody>
          <a:bodyPr wrap="square" lIns="45720" tIns="18288" rIns="45720" bIns="18288">
            <a:spAutoFit/>
          </a:bodyPr>
          <a:lstStyle/>
          <a:p>
            <a:pPr algn="ctr">
              <a:defRPr sz="1000" b="1">
                <a:solidFill>
                  <a:srgbClr val="FFFFFF"/>
                </a:solidFill>
                <a:latin typeface="Aptos"/>
              </a:defRPr>
            </a:pPr>
            <a:r>
              <a:t>PHASE 2</a:t>
            </a:r>
          </a:p>
        </p:txBody>
      </p:sp>
      <p:sp>
        <p:nvSpPr>
          <p:cNvPr id="13" name="TextBox 12"/>
          <p:cNvSpPr txBox="1"/>
          <p:nvPr/>
        </p:nvSpPr>
        <p:spPr>
          <a:xfrm>
            <a:off x="8257032" y="2606040"/>
            <a:ext cx="1271016" cy="594360"/>
          </a:xfrm>
          <a:prstGeom prst="rect">
            <a:avLst/>
          </a:prstGeom>
          <a:noFill/>
        </p:spPr>
        <p:txBody>
          <a:bodyPr wrap="square" lIns="45720" tIns="18288" rIns="45720" bIns="18288">
            <a:spAutoFit/>
          </a:bodyPr>
          <a:lstStyle/>
          <a:p>
            <a:pPr algn="ctr">
              <a:defRPr sz="1100" b="1">
                <a:solidFill>
                  <a:srgbClr val="FFFFFF"/>
                </a:solidFill>
                <a:latin typeface="Aptos"/>
              </a:defRPr>
            </a:pPr>
            <a:r>
              <a:t>Power allocation + SIC</a:t>
            </a:r>
          </a:p>
        </p:txBody>
      </p:sp>
      <p:cxnSp>
        <p:nvCxnSpPr>
          <p:cNvPr id="14" name="Connector 13"/>
          <p:cNvCxnSpPr/>
          <p:nvPr/>
        </p:nvCxnSpPr>
        <p:spPr>
          <a:xfrm>
            <a:off x="9601200" y="2743200"/>
            <a:ext cx="210312" cy="0"/>
          </a:xfrm>
          <a:prstGeom prst="line">
            <a:avLst/>
          </a:prstGeom>
          <a:ln w="25400">
            <a:solidFill>
              <a:srgbClr val="66758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829800" y="2011680"/>
            <a:ext cx="1417320" cy="1463040"/>
          </a:xfrm>
          <a:prstGeom prst="roundRect">
            <a:avLst/>
          </a:prstGeom>
          <a:solidFill>
            <a:srgbClr val="F5B737"/>
          </a:solidFill>
          <a:ln>
            <a:solidFill>
              <a:srgbClr val="F5B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902952" y="2240280"/>
            <a:ext cx="1271016" cy="228600"/>
          </a:xfrm>
          <a:prstGeom prst="rect">
            <a:avLst/>
          </a:prstGeom>
          <a:noFill/>
        </p:spPr>
        <p:txBody>
          <a:bodyPr wrap="square" lIns="45720" tIns="18288" rIns="45720" bIns="18288">
            <a:spAutoFit/>
          </a:bodyPr>
          <a:lstStyle/>
          <a:p>
            <a:pPr algn="ctr">
              <a:defRPr sz="1000" b="1">
                <a:solidFill>
                  <a:srgbClr val="FFFFFF"/>
                </a:solidFill>
                <a:latin typeface="Aptos"/>
              </a:defRPr>
            </a:pPr>
            <a:r>
              <a:t>PHASE 3</a:t>
            </a:r>
          </a:p>
        </p:txBody>
      </p:sp>
      <p:sp>
        <p:nvSpPr>
          <p:cNvPr id="17" name="TextBox 16"/>
          <p:cNvSpPr txBox="1"/>
          <p:nvPr/>
        </p:nvSpPr>
        <p:spPr>
          <a:xfrm>
            <a:off x="9902952" y="2606040"/>
            <a:ext cx="1271016" cy="594360"/>
          </a:xfrm>
          <a:prstGeom prst="rect">
            <a:avLst/>
          </a:prstGeom>
          <a:noFill/>
        </p:spPr>
        <p:txBody>
          <a:bodyPr wrap="square" lIns="45720" tIns="18288" rIns="45720" bIns="18288">
            <a:spAutoFit/>
          </a:bodyPr>
          <a:lstStyle/>
          <a:p>
            <a:pPr algn="ctr">
              <a:defRPr sz="1100" b="1">
                <a:solidFill>
                  <a:srgbClr val="FFFFFF"/>
                </a:solidFill>
                <a:latin typeface="Aptos"/>
              </a:defRPr>
            </a:pPr>
            <a:r>
              <a:t>SINR / sum-rate</a:t>
            </a:r>
          </a:p>
        </p:txBody>
      </p:sp>
      <p:sp>
        <p:nvSpPr>
          <p:cNvPr id="18" name="Rounded Rectangle 17"/>
          <p:cNvSpPr/>
          <p:nvPr/>
        </p:nvSpPr>
        <p:spPr>
          <a:xfrm>
            <a:off x="6446520" y="4160520"/>
            <a:ext cx="4846320" cy="868680"/>
          </a:xfrm>
          <a:prstGeom prst="roundRect">
            <a:avLst/>
          </a:prstGeom>
          <a:solidFill>
            <a:srgbClr val="0E1D34"/>
          </a:solidFill>
          <a:ln>
            <a:solidFill>
              <a:srgbClr val="0E1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92824" y="4251959"/>
            <a:ext cx="4553712" cy="704088"/>
          </a:xfrm>
          <a:prstGeom prst="rect">
            <a:avLst/>
          </a:prstGeom>
          <a:noFill/>
        </p:spPr>
        <p:txBody>
          <a:bodyPr wrap="square" lIns="45720" tIns="18288" rIns="45720" bIns="18288">
            <a:spAutoFit/>
          </a:bodyPr>
          <a:lstStyle/>
          <a:p>
            <a:pPr>
              <a:defRPr sz="1300" b="1">
                <a:solidFill>
                  <a:srgbClr val="FFFFFF"/>
                </a:solidFill>
                <a:latin typeface="Cambria Math"/>
              </a:defRPr>
            </a:pPr>
            <a:r>
              <a:t>ML grouping → Power allocation → SIC/SINR evaluation → Sum-rate and reliability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2905</Words>
  <Application>Microsoft Office PowerPoint</Application>
  <PresentationFormat>Widescreen</PresentationFormat>
  <Paragraphs>288</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Uncertainty-Aware GNN for Dynamic NOMA User Grouping under Imperfect CSI</dc:title>
  <dc:subject>18-slide technical project presentation</dc:subject>
  <dc:creator>Akshay Boppudi</dc:creator>
  <cp:keywords>NOMA, CSI uncertainty, GraphSAGE, semi-supervised learning, GNN</cp:keywords>
  <dc:description>generated using python-pptx</dc:description>
  <cp:lastModifiedBy>akshay boppudi</cp:lastModifiedBy>
  <cp:revision>3</cp:revision>
  <dcterms:created xsi:type="dcterms:W3CDTF">2013-01-27T09:14:16Z</dcterms:created>
  <dcterms:modified xsi:type="dcterms:W3CDTF">2026-10-15T03:51:13Z</dcterms:modified>
  <cp:category/>
</cp:coreProperties>
</file>